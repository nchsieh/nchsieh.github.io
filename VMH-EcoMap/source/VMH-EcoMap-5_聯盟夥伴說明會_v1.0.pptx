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33F"/>
                </a:solidFill>
                <a:latin typeface="Microsoft JhengHei"/>
              </a:defRPr>
            </a:pPr>
            <a:r>
              <a:rPr sz="1300" b="0" i="0" u="none" strike="noStrike">
                <a:solidFill>
                  <a:srgbClr val="12233F"/>
                </a:solidFill>
                <a:latin typeface="Microsoft JhengHei"/>
              </a:rPr>
              <a:t>各階段能力項數分布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能力項數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C4552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8F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G0 授權</c:v>
                  </c:pt>
                  <c:pt idx="1">
                    <c:v>G1 評估</c:v>
                  </c:pt>
                  <c:pt idx="2">
                    <c:v>G2 規劃</c:v>
                  </c:pt>
                  <c:pt idx="3">
                    <c:v>G3 採購</c:v>
                  </c:pt>
                  <c:pt idx="4">
                    <c:v>G4 建置</c:v>
                  </c:pt>
                  <c:pt idx="5">
                    <c:v>G5 開院</c:v>
                  </c:pt>
                  <c:pt idx="6">
                    <c:v>G6 複製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23</c:v>
                </c:pt>
                <c:pt idx="5">
                  <c:v>5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C4552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25E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D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2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開場：今天不是賣工具，是把「大家一起去越南做醫院生意」這件事，變成一張可以共同施工的圖。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強調：越南醫院場域的生意面很寬，但也因此最容易各做各的。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這頁定調：複雜不是重點，清晰的商業判斷才是。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這是全場最重要的一頁，請停留久一點。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說明資料流向：上排是設定與規則，中間是資料源，下排是各種決策視圖。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先講清楚檔案分工，後面的案例才不會混淆。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這是模擬版面。實機演示時直接打開 Excel。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◆為0是刻意的：目前沒有任何夥伴正式簽約，這場會議的目的就是把◐變成◆。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 有 23 項，是最大的一塊餅，但也最需要整合。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請夥伴當場認領：能補哪一項，會後填 04 夥伴拼圖。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強調：法規是門檻不是選項，工具會在每個階段自動提醒未確認的項數。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重點：風險等級獨立顯示，不用加權平均掩蓋重大風險。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用一個具體角色帶大家走一次工具，比逐頁講功能有效。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讓對方自己看到「空位」，比我們推銷有力。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這頁是工具的價值核心：把模糊的「有沒有機會」變成明確的待辦。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這頁通常會讓醫材商最有感：他們最怕的就是註冊時程。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收斂：從一張圖到一份合約，中間沒有跳步。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讓夥伴知道：認領缺口之後會發生什麼，流程是透明的。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這頁展現工具的中立性，也讓夥伴相信評分不是為召集人服務。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這頁回答夥伴最常問的：「以後資料會不會很難維護？」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現場有人問價格，就打開這個檔案改一格數字，讓他看到 NPV 立刻變。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這頁就是 PI 週會的議程本身。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建議每兩週一次，會議時間 60 分鐘，議程就是這五項。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這頁是講給日後要維護這個檔案的人聽的。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明確講出遊戲規則，反而更容易招募到認真的夥伴。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WP-07 是給在座夥伴的直接行動：資格審查從第 4 個月開始。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結尾回到對外論述，提醒所有人對越方的說法要一致。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VMH-EcoMap｜越南現代醫院生態導入盤點器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1417320"/>
            <a:ext cx="960120" cy="960120"/>
          </a:xfrm>
          <a:prstGeom prst="ellipse">
            <a:avLst/>
          </a:prstGeom>
          <a:solidFill>
            <a:srgbClr val="1B3357"/>
          </a:solidFill>
          <a:ln w="15875">
            <a:solidFill>
              <a:srgbClr val="5DA9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1540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DA9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149840" y="1417320"/>
            <a:ext cx="960120" cy="960120"/>
          </a:xfrm>
          <a:prstGeom prst="ellipse">
            <a:avLst/>
          </a:prstGeom>
          <a:solidFill>
            <a:srgbClr val="1B3357"/>
          </a:solidFill>
          <a:ln w="15875">
            <a:solidFill>
              <a:srgbClr val="9BD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BD0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915400" y="2651760"/>
            <a:ext cx="960120" cy="960120"/>
          </a:xfrm>
          <a:prstGeom prst="ellipse">
            <a:avLst/>
          </a:prstGeom>
          <a:solidFill>
            <a:srgbClr val="1B3357"/>
          </a:solidFill>
          <a:ln w="15875">
            <a:solidFill>
              <a:srgbClr val="F2C1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149840" y="2651760"/>
            <a:ext cx="960120" cy="960120"/>
          </a:xfrm>
          <a:prstGeom prst="ellipse">
            <a:avLst/>
          </a:prstGeom>
          <a:solidFill>
            <a:srgbClr val="1B3357"/>
          </a:solidFill>
          <a:ln w="15875">
            <a:solidFill>
              <a:srgbClr val="E883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8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FE0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越南現代醫院生態導入盤點器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三軸式顧問工具｜聯盟夥伴說明會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一張大家共用的藍圖：能做什麼 · 誰能做 · 何時做 · 做到什麼程度才算合格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108960" cy="18288"/>
          </a:xfrm>
          <a:prstGeom prst="rect">
            <a:avLst/>
          </a:prstGeom>
          <a:solidFill>
            <a:srgbClr val="3E5A80"/>
          </a:solidFill>
          <a:ln w="12700">
            <a:solidFill>
              <a:srgbClr val="3E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754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主辦：群晶科技（聯盟召集人）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1023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顧問／PI 計畫辦公室製作 · v1.0 · 2026-08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我們要一起做的，是一整座醫院的生意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不是單一產品標案。一座現代化醫院＝十個領域、上百項可交付的工作，沒有一家公司做得完。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011680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 · IDC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243230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電力備援、微電網、邊緣運算底座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1434" y="1828800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6026" y="2011680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96026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0074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 · 資安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6026" y="243230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分區網段、零信任、資安營運中心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9947" y="1828800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4539" y="2011680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18" name="Text 16"/>
          <p:cNvSpPr/>
          <p:nvPr/>
        </p:nvSpPr>
        <p:spPr>
          <a:xfrm>
            <a:off x="6324539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08587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AIOT 智慧院區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4539" y="243230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BMS、RTLS、智慧病房與護理呼叫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88461" y="1828800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53053" y="2011680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23" name="Text 21"/>
          <p:cNvSpPr/>
          <p:nvPr/>
        </p:nvSpPr>
        <p:spPr>
          <a:xfrm>
            <a:off x="9153053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37101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醫療器材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53053" y="243230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影像PACS、檢驗LIS、手術室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310128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3493008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醫療資訊軟體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" y="39136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HIS/EMR、FHIR介接、資料平台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1434" y="3310128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96026" y="3493008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33" name="Text 31"/>
          <p:cNvSpPr/>
          <p:nvPr/>
        </p:nvSpPr>
        <p:spPr>
          <a:xfrm>
            <a:off x="3496026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80074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建築 · 機電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96026" y="39136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總體規劃、感控動線、醫療氣體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9947" y="3310128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24539" y="3493008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38" name="Text 36"/>
          <p:cNvSpPr/>
          <p:nvPr/>
        </p:nvSpPr>
        <p:spPr>
          <a:xfrm>
            <a:off x="6324539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08587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 · 維運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24539" y="39136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SPD、冷鏈、CMMS 設施維運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88461" y="3310128"/>
            <a:ext cx="2670048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53053" y="3493008"/>
            <a:ext cx="310896" cy="310896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43" name="Text 41"/>
          <p:cNvSpPr/>
          <p:nvPr/>
        </p:nvSpPr>
        <p:spPr>
          <a:xfrm>
            <a:off x="9153053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537101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 · 財務 · 法務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53053" y="39136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PPP交易架構、法規執照、品質認證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98348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120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關鍵問題：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誰做哪一塊？誰先做？做到什麼程度越南才會驗收？沒有共同答案，聯盟就只是一份名單。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A SHARED 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沒有共同地圖，聯盟一定會出現這三種狀況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這三件事在國際醫院導入案例中反覆發生，代價都是錢與時間。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8444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240280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240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5528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各做各的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5528" y="3529584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每家只講自己的產品，沒有人負責把設施、醫材、資訊系統接起來。開院時才發現介面沒人做。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1965960"/>
            <a:ext cx="358444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240280"/>
            <a:ext cx="658368" cy="658368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40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順序錯了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0" y="3529584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先買設備再想機房與網路；先簽交易模式再找證據。世界銀行對越南醫療PPP的提醒正是如此。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5864" y="1965960"/>
            <a:ext cx="358444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8472" y="2240280"/>
            <a:ext cx="658368" cy="65836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8348472" y="2240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48472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法規卡關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48472" y="3529584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醫院執照、醫材註冊、電子病歷、個資與資料落地——任何一項沒過，整案停在門口。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029200"/>
            <a:ext cx="11155680" cy="804672"/>
          </a:xfrm>
          <a:prstGeom prst="roundRect">
            <a:avLst>
              <a:gd name="adj" fmla="val 68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572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工具要解決的，不是「資料不夠多」，而是「判斷不清楚」。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三軸式顧問工具：三個問題，一張圖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A、B、C 不是三選一，而是同一套工具的三個軸。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48256"/>
            <a:ext cx="1051560" cy="713232"/>
          </a:xfrm>
          <a:prstGeom prst="roundRect">
            <a:avLst>
              <a:gd name="adj" fmla="val 12821"/>
            </a:avLst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48256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能力模組（Y軸／列）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24048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醫院生態 10 大領域 D01–D10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2093976"/>
            <a:ext cx="18288" cy="621792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048256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能做什麼？缺什麼？誰能做？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3081528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55264"/>
            <a:ext cx="1051560" cy="713232"/>
          </a:xfrm>
          <a:prstGeom prst="roundRect">
            <a:avLst>
              <a:gd name="adj" fmla="val 12821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55264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20240" y="32644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階段路徑（X軸／欄）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36118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Stage-Gate G0–G6，60 個月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300984"/>
            <a:ext cx="18288" cy="621792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25526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先後順序？何時做？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4288536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62272"/>
            <a:ext cx="1051560" cy="713232"/>
          </a:xfrm>
          <a:prstGeom prst="roundRect">
            <a:avLst>
              <a:gd name="adj" fmla="val 12821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46227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軸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920240" y="4471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法規門檻（門檻列）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20240" y="48188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越南強制法規＋國際標準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23560" y="4507992"/>
            <a:ext cx="18288" cy="621792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446227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做到什麼程度才算合格？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02920" y="5504688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614416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三軸交會的地方，就是「01 總藍圖」——每一格＝某個領域在某個階段的具體商機。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FITS TOGETHER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工具全貌：21 個分頁，一個資料源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所有盤點只在「03 能力總表」輸入一次，其餘 20 個分頁全部是公式，自動連動。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70048" cy="786384"/>
          </a:xfrm>
          <a:prstGeom prst="roundRect">
            <a:avLst>
              <a:gd name="adj" fmla="val 69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745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情境權重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21945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專案輪廓·評分權重·基線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63624" y="2606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1434" y="1783080"/>
            <a:ext cx="2670048" cy="786384"/>
          </a:xfrm>
          <a:prstGeom prst="roundRect">
            <a:avLst>
              <a:gd name="adj" fmla="val 6977"/>
            </a:avLst>
          </a:prstGeom>
          <a:solidFill>
            <a:srgbClr val="2E747A"/>
          </a:solidFill>
          <a:ln w="12700">
            <a:solidFill>
              <a:srgbClr val="2E7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1162" y="18745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夥伴拼圖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1162" y="21945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誰能做：名冊＋覆蓋矩陣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92138" y="2606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59947" y="1783080"/>
            <a:ext cx="2670048" cy="786384"/>
          </a:xfrm>
          <a:prstGeom prst="roundRect">
            <a:avLst>
              <a:gd name="adj" fmla="val 6977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9675" y="18745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法規門檻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9675" y="21945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B軸：每階段合格線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0651" y="2606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88461" y="1783080"/>
            <a:ext cx="2670048" cy="786384"/>
          </a:xfrm>
          <a:prstGeom prst="roundRect">
            <a:avLst>
              <a:gd name="adj" fmla="val 697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189" y="187452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 代碼表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189" y="21945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字典與定義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49165" y="2606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889504"/>
            <a:ext cx="11155680" cy="859536"/>
          </a:xfrm>
          <a:prstGeom prst="roundRect">
            <a:avLst>
              <a:gd name="adj" fmla="val 638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2980944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能力總表　Capability Master｜單一資料源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" y="33284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2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C軸 60 項能力：能做什麼／缺什麼／誰能做／值多少／多成熟　★ 所有更新只改這裡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767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0" y="3767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4164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1148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總藍圖★（決策視圖）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4443984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× 能力 ＋ 法規門檻列 ＝ 商業判斷與缺口地圖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04164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55080" y="41148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行動路線（執行視圖）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55080" y="4443984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F1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個工作包＋60 個月甘特圖 ＝ 何時做、誰主責、怎麼驗收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04748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509320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整案量級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2648" y="534924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多少錢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31434" y="504748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1162" y="509320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風險清冊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41162" y="534924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什麼風險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59947" y="504748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9675" y="509320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KPI 計分卡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269675" y="534924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怎麼驗收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988461" y="504748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189" y="509320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決策紀錄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098189" y="534924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可稽核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568756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573328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缺口招募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12648" y="598932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要找誰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31434" y="568756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41162" y="573328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夥伴視角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3441162" y="598932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我做什麼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59947" y="568756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9675" y="573328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待辦看板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269675" y="598932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本週做什麼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988461" y="5687568"/>
            <a:ext cx="2670048" cy="585216"/>
          </a:xfrm>
          <a:prstGeom prst="roundRect">
            <a:avLst>
              <a:gd name="adj" fmla="val 9375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98189" y="5733288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商機字典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098189" y="598932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85種生意可以做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THREE FILES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三個檔案，各回答一個問題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不要把所有東西塞進一個檔案。盤點的節奏、財務的節奏、對外收件的節奏，本來就不一樣。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84448" cy="3429000"/>
          </a:xfrm>
          <a:prstGeom prst="roundRect">
            <a:avLst>
              <a:gd name="adj" fmla="val 1600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02996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主工具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VMH-EcoMap-1_主工具_越南醫院生態盤點_v1.0.xlsx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3127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做不做 · 誰做 · 何時做 · 合格門檻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367588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36758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個分頁，60 項能力，85 種商機，29 個夥伴角色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" y="4151376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41513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 PI 會議與夥伴洽談用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46268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" y="46268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單位是「能力項」「商機」與「工作包」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88536" y="1828800"/>
            <a:ext cx="3584448" cy="3429000"/>
          </a:xfrm>
          <a:prstGeom prst="roundRect">
            <a:avLst>
              <a:gd name="adj" fmla="val 16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9704" y="202996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BF8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489704" y="20299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專案商模試算器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9704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VMH-EcoMap-2_專案商模試算器_v1.0.xlsx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9704" y="3127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這一個子專案划不划算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9704" y="367588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72584" y="36758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CAPEX 明細 · 每年 OPEX · 10 年現金流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9704" y="4151376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72584" y="41513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NPV / IRR / 回收期 / 敏感度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9704" y="46268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72584" y="46268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某項變成 Go 或要進投資決策時開一份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74152" y="1828800"/>
            <a:ext cx="3584448" cy="3429000"/>
          </a:xfrm>
          <a:prstGeom prst="roundRect">
            <a:avLst>
              <a:gd name="adj" fmla="val 1600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02996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E747A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20299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夥伴提案回覆表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75320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VMH-EcoMap-3_夥伴提案回覆表_v1.0.xlsx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5320" y="3127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候選夥伴到底有沒有能力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367588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36758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公司資料 · 能力自評 · 實績證照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75320" y="4151376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58200" y="41513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越南註冊狀態與供應鏈來源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75320" y="46268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58200" y="46268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 RFI 時附上，回收後填進 04 夥伴拼圖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44068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559552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 VMH-EcoMap-4 Word 使用手冊：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個分頁逐頁說明「定義／目的／怎麼看／怎麼填／公式邏輯／常見錯誤」，新人接手直接看它。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MASTER 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總藍圖：打開就是這一張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橫軸走時間，縱軸看領域，紅色就是還沒有人的空白。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481328" cy="420624"/>
          </a:xfrm>
          <a:prstGeom prst="rect">
            <a:avLst/>
          </a:prstGeom>
          <a:solidFill>
            <a:srgbClr val="2E747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2880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能力模組 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842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9" name="Text 7"/>
          <p:cNvSpPr/>
          <p:nvPr/>
        </p:nvSpPr>
        <p:spPr>
          <a:xfrm>
            <a:off x="19842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授權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評估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規劃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90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 採購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706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74706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 建置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422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9" name="Text 17"/>
          <p:cNvSpPr/>
          <p:nvPr/>
        </p:nvSpPr>
        <p:spPr>
          <a:xfrm>
            <a:off x="88422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G5 開院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13848" y="1828800"/>
            <a:ext cx="1371600" cy="420624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21384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G6 複製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249424"/>
            <a:ext cx="1481328" cy="402336"/>
          </a:xfrm>
          <a:prstGeom prst="rect">
            <a:avLst/>
          </a:prstGeom>
          <a:solidFill>
            <a:srgbClr val="FBE6E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249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B軸 法規門檻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842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3558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LAW15·DEC96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PDP13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7274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＋EMR13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MD98·JCI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990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＋ISO27001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IEC80001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4706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全數強制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未確認 7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8422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開院執照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臨床安全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213848" y="2249424"/>
            <a:ext cx="1371600" cy="402336"/>
          </a:xfrm>
          <a:prstGeom prst="rect">
            <a:avLst/>
          </a:prstGeom>
          <a:solidFill>
            <a:srgbClr val="FDF3F3"/>
          </a:solidFill>
          <a:ln w="6350">
            <a:solidFill>
              <a:srgbClr val="F1D9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0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持續合規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效益驗收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02920" y="2651760"/>
            <a:ext cx="1481328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6517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D01 治理與投資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84248" y="2651760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842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3項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55848" y="2651760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558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4項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27448" y="2651760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99048" y="2651760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990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70648" y="2651760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06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42248" y="2651760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422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213848" y="2651760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13848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3218688"/>
            <a:ext cx="1481328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21868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D04 數位基建IoT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984248" y="3218688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842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55848" y="3218688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558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27448" y="3218688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274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99048" y="3218688"/>
            <a:ext cx="1371600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990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1項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470648" y="3218688"/>
            <a:ext cx="1371600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706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5項 ◐1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842248" y="3218688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422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213848" y="3218688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13848" y="32186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3785616"/>
            <a:ext cx="1481328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378561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D05 醫材與診斷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984248" y="3785616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842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355848" y="3785616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558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727448" y="3785616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274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099048" y="3785616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990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470648" y="3785616"/>
            <a:ext cx="1371600" cy="566928"/>
          </a:xfrm>
          <a:prstGeom prst="rect">
            <a:avLst/>
          </a:prstGeom>
          <a:solidFill>
            <a:srgbClr val="FBE6E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706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3項 ◐2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8842248" y="3785616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8422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0213848" y="3785616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13848" y="37856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02920" y="4352544"/>
            <a:ext cx="1481328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435254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D06 醫療資訊軟體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984248" y="4352544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842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355848" y="4352544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558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727448" y="4352544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274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099048" y="4352544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990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2項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470648" y="4352544"/>
            <a:ext cx="1371600" cy="566928"/>
          </a:xfrm>
          <a:prstGeom prst="rect">
            <a:avLst/>
          </a:prstGeom>
          <a:solidFill>
            <a:srgbClr val="FBE6E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706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1項 ◐3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8842248" y="4352544"/>
            <a:ext cx="1371600" cy="566928"/>
          </a:xfrm>
          <a:prstGeom prst="rect">
            <a:avLst/>
          </a:prstGeom>
          <a:solidFill>
            <a:srgbClr val="FBE6E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8422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1項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10213848" y="4352544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213848" y="43525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02920" y="4919472"/>
            <a:ext cx="1481328" cy="566928"/>
          </a:xfrm>
          <a:prstGeom prst="rect">
            <a:avLst/>
          </a:prstGeom>
          <a:solidFill>
            <a:srgbClr val="DCE6F4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0" y="49194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 商模與病人生態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984248" y="4919472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9842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355848" y="4919472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3558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727448" y="4919472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274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6099048" y="4919472"/>
            <a:ext cx="137160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0990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7470648" y="4919472"/>
            <a:ext cx="1371600" cy="566928"/>
          </a:xfrm>
          <a:prstGeom prst="rect">
            <a:avLst/>
          </a:prstGeom>
          <a:solidFill>
            <a:srgbClr val="FBE6E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4706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2項 ◐1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8842248" y="4919472"/>
            <a:ext cx="1371600" cy="566928"/>
          </a:xfrm>
          <a:prstGeom prst="rect">
            <a:avLst/>
          </a:prstGeom>
          <a:solidFill>
            <a:srgbClr val="FBE6E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422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1項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10213848" y="4919472"/>
            <a:ext cx="137160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213848" y="4919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1項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502920" y="55046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（示意：實際工具中每一格會直接列出能力編號與名稱，共 10 列 × 7 欄）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502920" y="5779008"/>
            <a:ext cx="11155680" cy="438912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2960" y="577900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看圖三步：① 找到你的領域列　② 看你在哪個階段有東西　③ 紅色＝目前沒有人，就是機會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SHARED LANGUAGE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四個符號，就是聯盟的共同語言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每一項能力都必須被標成其中一種。沒有第五種狀態，也不允許空白。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72184" y="2084832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群晶主導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群晶科技為主責交付者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7705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1434" y="1828800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698" y="2084832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0698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68594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夥伴已確認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68594" y="331012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已簽約或正式承諾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68594" y="387705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468594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9947" y="1828800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29211" y="2084832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29211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97107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夥伴洽談中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7107" y="331012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有候選夥伴，資格審查中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7107" y="387705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297107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88461" y="1828800"/>
            <a:ext cx="2670048" cy="3017520"/>
          </a:xfrm>
          <a:prstGeom prst="roundRect">
            <a:avLst>
              <a:gd name="adj" fmla="val 2055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57725" y="2084832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57725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25621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缺口-待尋找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25621" y="331012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尚無候選＝今天要找的人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25621" y="387705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25621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07492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19379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今天的重點：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項能力中，43 項有人洽談但還沒定案、9 項完全沒有人。這 52 項就是今天要談的合作空間。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 SCAN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現況掃描：60 項能力，工作量集中在建置期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一半以上的可交付工作落在 G4 建置整合階段——那也是採購金額最集中的地方。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2880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269480" y="2011680"/>
            <a:ext cx="4389120" cy="1115568"/>
          </a:xfrm>
          <a:prstGeom prst="roundRect">
            <a:avLst>
              <a:gd name="adj" fmla="val 49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52360" y="219456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732520" y="2194560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項判定「立即推進 Go」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69480" y="3310128"/>
            <a:ext cx="4389120" cy="1115568"/>
          </a:xfrm>
          <a:prstGeom prst="roundRect">
            <a:avLst>
              <a:gd name="adj" fmla="val 49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349300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732520" y="3493008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項需「先補條件 Prepare」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69480" y="4608576"/>
            <a:ext cx="4389120" cy="1115568"/>
          </a:xfrm>
          <a:prstGeom prst="roundRect">
            <a:avLst>
              <a:gd name="adj" fmla="val 49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4791456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732520" y="479145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項被判定暫緩或儲備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269480" y="5852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沒有項目被判「暫緩」，代表目前沒有先天不可行的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項目——問題全在條件與夥伴。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9 GAPS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今天最重要的一頁：9 個沒有人的位置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這些不是「還沒討論」，是工具判定目前完全沒有候選夥伴。誰能補，誰就有位置。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017520" cy="365760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7830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783080"/>
            <a:ext cx="1691640" cy="365760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78308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領域／階段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4251960" cy="365760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178308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我們缺的是什麼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64040" y="1783080"/>
            <a:ext cx="1097280" cy="365760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46336" y="17830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61320" y="1783080"/>
            <a:ext cx="1097280" cy="365760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43616" y="17830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3017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1488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CAP-028 影像設備、PACS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0440" y="2148840"/>
            <a:ext cx="169164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21488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D05 醫材／G4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12080" y="2148840"/>
            <a:ext cx="425196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4376" y="214884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影像設備原廠或代理＋PACS 整合實績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64040" y="214884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46336" y="21488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561320" y="214884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43616" y="21488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251460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51460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CAP-029 實驗室自動化 LIS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20440" y="251460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25146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D05 醫材／G4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12080" y="2514600"/>
            <a:ext cx="4251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251460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實驗室自動化與 LIS 供應商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464040" y="251460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46336" y="25146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561320" y="251460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43616" y="25146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2880360"/>
            <a:ext cx="3017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288036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CAP-030 手術室與重症整合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520440" y="2880360"/>
            <a:ext cx="169164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02736" y="288036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D05 醫材／G4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212080" y="2880360"/>
            <a:ext cx="425196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94376" y="288036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手術室／重症整合設備商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464040" y="288036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6336" y="28803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561320" y="288036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43616" y="28803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324612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32461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CAP-035 主病人索引與身分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520440" y="324612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02736" y="324612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D06 資訊／G4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212080" y="3246120"/>
            <a:ext cx="4251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94376" y="324612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越南數位身分 VNeID 介接夥伴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464040" y="32461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46336" y="32461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0561320" y="32461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43616" y="32461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02920" y="3611880"/>
            <a:ext cx="3017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" y="36118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CAP-039 病人入口與行動服務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520440" y="3611880"/>
            <a:ext cx="169164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02736" y="361188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D06 資訊／G5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212080" y="3611880"/>
            <a:ext cx="425196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94376" y="361188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病人 App 與在地支付夥伴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464040" y="361188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46336" y="36118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5.0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10561320" y="361188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43616" y="36118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02920" y="397764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" y="3977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CAP-045 人力與輪班模型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3520440" y="397764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02736" y="39776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D08 人才／G2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212080" y="3977640"/>
            <a:ext cx="4251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94376" y="397764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越南醫護大學或人力合作機構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9464040" y="397764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546336" y="39776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4.0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0561320" y="397764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643616" y="39776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02920" y="4343400"/>
            <a:ext cx="3017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5216" y="434340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CAP-056 健保申報與數位理賠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3520440" y="4343400"/>
            <a:ext cx="169164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02736" y="43434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 商模／G4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5212080" y="4343400"/>
            <a:ext cx="425196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294376" y="434340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越南健保 VSS 申報介接經驗夥伴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464040" y="434340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46336" y="43434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10561320" y="434340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643616" y="43434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2.0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02920" y="470916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5216" y="470916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CAP-057 現金流、支付與收入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3520440" y="4709160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02736" y="470916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 商模／G4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5212080" y="4709160"/>
            <a:ext cx="4251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294376" y="470916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醫院收費／金流服務夥伴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9464040" y="47091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46336" y="47091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10561320" y="47091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43616" y="47091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2.0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502920" y="5074920"/>
            <a:ext cx="3017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5216" y="5074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CAP-058 國際醫療與高值服務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3520440" y="5074920"/>
            <a:ext cx="169164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02736" y="507492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 商模／G5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5212080" y="5074920"/>
            <a:ext cx="425196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94376" y="5074920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國際醫療行銷與保險通路夥伴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9464040" y="507492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546336" y="5074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</a:t>
            </a:r>
            <a:endParaRPr lang="en-US" sz="1150" dirty="0"/>
          </a:p>
        </p:txBody>
      </p:sp>
      <p:sp>
        <p:nvSpPr>
          <p:cNvPr id="104" name="Shape 102"/>
          <p:cNvSpPr/>
          <p:nvPr/>
        </p:nvSpPr>
        <p:spPr>
          <a:xfrm>
            <a:off x="10561320" y="5074920"/>
            <a:ext cx="109728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643616" y="5074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2.0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502920" y="5486400"/>
            <a:ext cx="11155680" cy="804672"/>
          </a:xfrm>
          <a:prstGeom prst="roundRect">
            <a:avLst>
              <a:gd name="adj" fmla="val 6818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" y="559612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讀法：</a:t>
            </a:r>
            <a:pPr indent="0" marL="0">
              <a:buNone/>
            </a:pPr>
            <a:r>
              <a:rPr lang="en-US" sz="130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價值分高、準備分低＝越南很需要，但我們還沒有人。這九項集中在醫材整合、資料身分與金流通路，正是聯盟最薄的三塊。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HARD GATES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軸：7 條越南強制法規，是所有人的共同門檻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不論你賣什麼，這 7 條沒過，你的東西進不了醫院。目前狀態全部是「待確認」。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371600" cy="36118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783080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783080"/>
            <a:ext cx="3383280" cy="36118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6816" y="1783080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法規名稱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1783080"/>
            <a:ext cx="4023360" cy="36118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0096" y="1783080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管什麼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1783080"/>
            <a:ext cx="2377440" cy="36118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1783080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誰要注意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144268"/>
            <a:ext cx="137160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144268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VN-LAW-15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74520" y="2144268"/>
            <a:ext cx="338328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2144268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醫療檢查與治療法 15/2023/QH15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57800" y="2144268"/>
            <a:ext cx="402336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2144268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醫院與人員執照、品質、資訊系統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81160" y="2144268"/>
            <a:ext cx="237744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2144268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2505456"/>
            <a:ext cx="137160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505456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VN-DEC-96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874520" y="2505456"/>
            <a:ext cx="338328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56816" y="2505456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施行細則 96/2023/ND-CP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57800" y="2505456"/>
            <a:ext cx="4023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2505456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設施、組織、外資醫院與執照細節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81160" y="2505456"/>
            <a:ext cx="23774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63456" y="2505456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建築／營運／投資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2866644"/>
            <a:ext cx="137160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2866644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VN-EMR-13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874520" y="2866644"/>
            <a:ext cx="338328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56816" y="2866644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電子病歷通函 13/2025/TT-BYT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257800" y="2866644"/>
            <a:ext cx="402336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0096" y="2866644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電子病歷、簽章、保存與導入期程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81160" y="2866644"/>
            <a:ext cx="237744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63456" y="2866644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醫療資訊軟體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3227832"/>
            <a:ext cx="137160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" y="3227832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VN-MD-98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874520" y="3227832"/>
            <a:ext cx="338328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56816" y="3227832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醫材管理 98/2021 及修正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257800" y="3227832"/>
            <a:ext cx="4023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0096" y="3227832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分類、流通、進口、販售、定價與使用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281160" y="3227832"/>
            <a:ext cx="23774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63456" y="3227832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醫材相關全體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3589020"/>
            <a:ext cx="137160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3589020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VN-PDP-13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874520" y="3589020"/>
            <a:ext cx="338328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6816" y="3589020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個資保護 13/2023/ND-CP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257800" y="3589020"/>
            <a:ext cx="402336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0096" y="3589020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健康資料屬敏感個資，跨境須評估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281160" y="3589020"/>
            <a:ext cx="237744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63456" y="3589020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資訊／雲端／AIOT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02920" y="3950208"/>
            <a:ext cx="137160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5216" y="3950208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VN-DATA-60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874520" y="3950208"/>
            <a:ext cx="338328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56816" y="3950208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資料法 60/2024/QH15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257800" y="3950208"/>
            <a:ext cx="4023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40096" y="3950208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資料治理與跨境處理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9281160" y="3950208"/>
            <a:ext cx="23774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63456" y="3950208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資料平台／雲端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02920" y="4311396"/>
            <a:ext cx="137160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5216" y="4311396"/>
            <a:ext cx="12070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VN-CYBER-53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1874520" y="4311396"/>
            <a:ext cx="338328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56816" y="4311396"/>
            <a:ext cx="32186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網路安全 53/2022/ND-CP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257800" y="4311396"/>
            <a:ext cx="402336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40096" y="4311396"/>
            <a:ext cx="385876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線上與雲端服務、在地留存要求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9281160" y="4311396"/>
            <a:ext cx="2377440" cy="36118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63456" y="4311396"/>
            <a:ext cx="22128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IDC／網路／雲端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02920" y="4919472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010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顧問提醒｜雲端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31520" y="53035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越南把健康資料視為敏感個資。美國雲端只能列為候選方案，必須先完成資料分類、在地保存、跨境傳輸與金鑰控制評估，才決定地端／越南雲／混合雲。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217920" y="4919472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5010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這對夥伴的意義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446520" y="53035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提案時請附上：產品在越南的註冊狀態或路徑、資料存放位置、供應鏈與韌體來源國。這不是刁難，是讓你的方案能通過越南官方審查。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DECISION RULE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工具怎麼給出商業判斷？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先過不可妥協的門檻，再看價值與準備度兩個分數——絕不把所有東西壓成一個總分。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886200" cy="4160520"/>
          </a:xfrm>
          <a:prstGeom prst="roundRect">
            <a:avLst>
              <a:gd name="adj" fmla="val 141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第一關：硬門檻（Pass／Fail）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241401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14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359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越南合法合規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" y="291693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16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862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臨床與病人安全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341985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個資與資安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" y="392277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922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867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可互通、資料可攜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442569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25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3708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可持續維運與人才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" y="4928616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928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8737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明確業主與決策責任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5440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任一項 Fail → 直接判「暫緩 Hold」，不進入評分。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011680"/>
            <a:ext cx="1645920" cy="1645920"/>
          </a:xfrm>
          <a:prstGeom prst="rect">
            <a:avLst/>
          </a:prstGeom>
          <a:solidFill>
            <a:srgbClr val="FFF2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2011680"/>
            <a:ext cx="1645920" cy="1645920"/>
          </a:xfrm>
          <a:prstGeom prst="rect">
            <a:avLst/>
          </a:prstGeom>
          <a:solidFill>
            <a:srgbClr val="DCEB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657600"/>
            <a:ext cx="1645920" cy="1645920"/>
          </a:xfrm>
          <a:prstGeom prst="rect">
            <a:avLst/>
          </a:prstGeom>
          <a:solidFill>
            <a:srgbClr val="EDEF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657600"/>
            <a:ext cx="1645920" cy="1645920"/>
          </a:xfrm>
          <a:prstGeom prst="rect">
            <a:avLst/>
          </a:prstGeom>
          <a:solidFill>
            <a:srgbClr val="DCE6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0116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先補條件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Prepare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20116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3657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儲備觀察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Backlog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3657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快速小案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Quick-win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第二關：兩個分數決定象限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5431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橫軸 → 價值分越右越高　｜　縱軸 ↑ 準備度越上越高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366760" y="1783080"/>
            <a:ext cx="3291840" cy="41605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兩組分數，各三個構面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7707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價值分 Value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77072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政府與政策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698480" y="2651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77072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臨床價值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98480" y="29809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77072" y="3310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商業潛力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698480" y="33101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77072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準備分 Readiness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577072" y="4114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法規就緒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698480" y="4114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577072" y="44439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夥伴與技術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698480" y="44439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77072" y="4773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資金與依賴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698480" y="47731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577072" y="5257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權重可在「02 情境權重」調整，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項分數即時重算。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案例演練 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「我是醫材整合商，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我在這個案子裡能做什麼？」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五個步驟，從一張全局圖走到一個可簽約的工作包。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0" y="2377440"/>
            <a:ext cx="1554480" cy="1554480"/>
          </a:xfrm>
          <a:prstGeom prst="ellipse">
            <a:avLst/>
          </a:prstGeom>
          <a:solidFill>
            <a:srgbClr val="1B3357"/>
          </a:solidFill>
          <a:ln w="19050">
            <a:solidFill>
              <a:srgbClr val="E883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0" y="23774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E88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</a:t>
            </a:r>
            <a:endParaRPr lang="en-US" sz="5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案例一 · STEP 1–2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第1步：在總藍圖找到自己的列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第2步：橫著讀過去，看看你在哪些階段有工作。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792224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到哪一頁 WHERE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" y="201168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01_總藍圖_Blueprint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86200" y="1737360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5928" y="179222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做什麼 WHAT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14216" y="20116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沿左側 Y 軸找到「D05 醫材與診斷」那一列橫著讀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792224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得到什麼 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57616" y="201168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 G4 有 5 項，其中 3 項是缺口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7328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10728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157984" cy="38404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2608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評估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2157984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83280"/>
            <a:ext cx="19751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52344" y="2926080"/>
            <a:ext cx="2157984" cy="38404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2752344" y="292608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規劃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52344" y="3310128"/>
            <a:ext cx="2157984" cy="1737360"/>
          </a:xfrm>
          <a:prstGeom prst="rect">
            <a:avLst/>
          </a:prstGeom>
          <a:solidFill>
            <a:srgbClr val="FFF9E8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3383280"/>
            <a:ext cx="19751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027 醫材需求與設備計畫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01768" y="2926080"/>
            <a:ext cx="2157984" cy="38404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292608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 採購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01768" y="3310128"/>
            <a:ext cx="2157984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383280"/>
            <a:ext cx="19751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51192" y="2926080"/>
            <a:ext cx="2157984" cy="38404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30" name="Text 28"/>
          <p:cNvSpPr/>
          <p:nvPr/>
        </p:nvSpPr>
        <p:spPr>
          <a:xfrm>
            <a:off x="7251192" y="292608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 建置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51192" y="3310128"/>
            <a:ext cx="2157984" cy="1737360"/>
          </a:xfrm>
          <a:prstGeom prst="rect">
            <a:avLst/>
          </a:prstGeom>
          <a:solidFill>
            <a:srgbClr val="FBE6E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3383280"/>
            <a:ext cx="19751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028 影像設備、PACS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029 實驗室自動化與LIS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030 手術室與重症整合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031 醫材介接與裝置身分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◐ 032 醫療工程與設備生命週期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00616" y="2926080"/>
            <a:ext cx="2157984" cy="38404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9500616" y="292608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G5 開院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500616" y="3310128"/>
            <a:ext cx="2157984" cy="1737360"/>
          </a:xfrm>
          <a:prstGeom prst="rect">
            <a:avLst/>
          </a:prstGeom>
          <a:solidFill>
            <a:srgbClr val="FAFA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92056" y="3383280"/>
            <a:ext cx="19751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285232"/>
            <a:ext cx="11155680" cy="969264"/>
          </a:xfrm>
          <a:prstGeom prst="roundRect">
            <a:avLst>
              <a:gd name="adj" fmla="val 566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285232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看到了什麼：</a:t>
            </a:r>
            <a:pPr indent="0" marL="0">
              <a:buNone/>
            </a:pPr>
            <a:r>
              <a:rPr lang="en-US" sz="135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D05 在 G4 有 5 項工作，其中 3 項是紅色缺口——影像/PACS、檢驗 LIS、手術室與重症。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這代表：如果你做的是這三塊，聯盟現在沒有人，位置是空的。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案例一 · STEP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第3步：點進 03 能力總表，看這一項的完整體檢表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5331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到哪一頁 WHERE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57276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03_能力總表_Master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1298448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13533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做什麼 WHAT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14216" y="15727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用第 4 列篩選選「D05」，找到 CAP-028 那一列橫著讀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298448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353312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得到什麼 RESULT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57616" y="15727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得到體檢表：值不值得做、缺什麼、誰負責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73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07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331720"/>
            <a:ext cx="1691640" cy="331013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331720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94560" y="2331720"/>
            <a:ext cx="5623560" cy="331013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76856" y="2331720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CAP-028 影像設備、PACS 與報告流程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2331720"/>
            <a:ext cx="3840480" cy="331013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2331720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怎麼解讀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662733"/>
            <a:ext cx="169164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662733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領域／階段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2662733"/>
            <a:ext cx="562356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76856" y="2662733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D05 醫材與診斷 ／ G4 建置整合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2662733"/>
            <a:ext cx="384048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0416" y="2662733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建置期才進場，但 G2 就要參與規劃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993746"/>
            <a:ext cx="169164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2993746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預期成果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2993746"/>
            <a:ext cx="562356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76856" y="2993746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影像檢查、判讀與報告流程數位化並可介接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18120" y="2993746"/>
            <a:ext cx="384048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0416" y="2993746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驗收看的是流程，不是機器台數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324758"/>
            <a:ext cx="169164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" y="3324758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拼圖狀態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4560" y="3324758"/>
            <a:ext cx="562356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76856" y="3324758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缺口-待尋找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18120" y="3324758"/>
            <a:ext cx="384048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0416" y="3324758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目前沒有候選夥伴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655771"/>
            <a:ext cx="169164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3655771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缺什麼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94560" y="3655771"/>
            <a:ext cx="562356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76856" y="3655771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影像設備原廠或代理＋PACS 整合實績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18120" y="3655771"/>
            <a:ext cx="384048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0416" y="3655771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兩件都要：設備通路＋整合能力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3986784"/>
            <a:ext cx="169164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3986784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適用標準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3986784"/>
            <a:ext cx="562356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76856" y="3986784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DICOM／IHE／VN-MD-98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18120" y="3986784"/>
            <a:ext cx="384048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0416" y="3986784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前兩項是技術門檻，第三項是法律門檻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4317797"/>
            <a:ext cx="169164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" y="4317797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價值分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94560" y="4317797"/>
            <a:ext cx="562356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76856" y="4317797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 ／ 5.0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18120" y="4317797"/>
            <a:ext cx="384048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0416" y="4317797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政府、臨床、商業三面都高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02920" y="4648810"/>
            <a:ext cx="169164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" y="4648810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準備分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194560" y="4648810"/>
            <a:ext cx="562356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76856" y="4648810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 ／ 5.0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18120" y="4648810"/>
            <a:ext cx="384048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0416" y="4648810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法規與夥伴都還沒到位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02920" y="4979822"/>
            <a:ext cx="169164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" y="4979822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商業判斷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194560" y="4979822"/>
            <a:ext cx="562356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76856" y="4979822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先補條件 Prepare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818120" y="4979822"/>
            <a:ext cx="3840480" cy="331013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00416" y="4979822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不是不做，是先把條件補齊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2920" y="5310835"/>
            <a:ext cx="169164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" y="5310835"/>
            <a:ext cx="152704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依賴項目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194560" y="5310835"/>
            <a:ext cx="562356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76856" y="5310835"/>
            <a:ext cx="545896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CAP-026 災難復原、CAP-033 HIS/EMR 核心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818120" y="5310835"/>
            <a:ext cx="3840480" cy="331013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00416" y="5310835"/>
            <a:ext cx="3675888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要等資訊底座就位才能整合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02920" y="5760720"/>
            <a:ext cx="11155680" cy="512064"/>
          </a:xfrm>
          <a:prstGeom prst="roundRect">
            <a:avLst>
              <a:gd name="adj" fmla="val 10714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2960" y="576072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關鍵：價值高、準備低 → 工具不會叫你放棄，而是告訴你「補什麼才能推進」。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案例一 · STEP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第4步：到 05 法規門檻，換算成你的入場券清單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5331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到哪一頁 WHERE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57276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05_法規門檻_Gates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1298448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13533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做什麼 WHAT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14216" y="15727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 CAP-028「關鍵門檻」欄的代號，查本頁 G2–G4 標「●」的列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298448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353312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得到什麼 RESULT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57616" y="15727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 6 張入場券與各自期限，這就是準備分僅 2.4 的原因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73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07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331720"/>
            <a:ext cx="1600200" cy="38404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33172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2331720"/>
            <a:ext cx="3566160" cy="38404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233172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331720"/>
            <a:ext cx="4892040" cy="38404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1576" y="233172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你要交出來的東西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61320" y="2331720"/>
            <a:ext cx="1097280" cy="384048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43616" y="23317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15768"/>
            <a:ext cx="1600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271576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VN-MD-98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2715768"/>
            <a:ext cx="356616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85416" y="2715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醫材分類、流通、進口、販售與使用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0" y="2715768"/>
            <a:ext cx="489204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1576" y="2715768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逐一產品的越南註冊證或註冊路徑與時程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561320" y="2715768"/>
            <a:ext cx="10972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43616" y="27157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G2–G4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099816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099816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13485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103120" y="3099816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85416" y="30998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醫材品質管理系統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0" y="3099816"/>
            <a:ext cx="4892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1576" y="3099816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原廠與代理的有效證書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561320" y="3099816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43616" y="309981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G3–G6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3483864"/>
            <a:ext cx="1600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348386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14971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103120" y="3483864"/>
            <a:ext cx="356616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85416" y="348386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醫材全生命週期風險管理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0" y="3483864"/>
            <a:ext cx="489204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1576" y="348386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風險管理檔案與整合後的再評估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561320" y="3483864"/>
            <a:ext cx="10972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43616" y="348386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G3–G6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02920" y="386791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" y="386791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IEC 60601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103120" y="3867912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85416" y="38679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醫用電氣安全與基本性能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669280" y="3867912"/>
            <a:ext cx="4892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1576" y="386791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產品別測試報告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0561320" y="3867912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43616" y="38679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G3–G6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02920" y="4251960"/>
            <a:ext cx="160020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" y="425196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DICOM／IHE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103120" y="4251960"/>
            <a:ext cx="356616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85416" y="425196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影像物件、儲存、工作流程與符合性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669280" y="4251960"/>
            <a:ext cx="489204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51576" y="425196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IHE Profile 對照表與符合性測試計畫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10561320" y="4251960"/>
            <a:ext cx="10972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643616" y="425196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G2–G5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02920" y="4636008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" y="463600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IEC 80001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103120" y="4636008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85416" y="46360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連網醫材的網路風險管理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669280" y="4636008"/>
            <a:ext cx="4892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51576" y="4636008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裝置身分、網段規劃與院方共同簽署的風險文件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0561320" y="463600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643616" y="463600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G2–G6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02920" y="5138928"/>
            <a:ext cx="5440680" cy="1115568"/>
          </a:xfrm>
          <a:prstGeom prst="roundRect">
            <a:avLst>
              <a:gd name="adj" fmla="val 4918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好消息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31520" y="550468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2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這些多數是你原本就有的文件。工具的作用是讓你知道「什麼時候要拿出來」，而不是到了驗收才被要求。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6217920" y="5138928"/>
            <a:ext cx="5440680" cy="1115568"/>
          </a:xfrm>
          <a:prstGeom prst="roundRect">
            <a:avLst>
              <a:gd name="adj" fmla="val 4918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4652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要注意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446520" y="550468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VN-MD-98 的註冊是逐一產品審查，前置期長。這是為什麼 CAP-028 雖然在 G4 才施工，卻要在 G2 就啟動準備。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案例一 · STEP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第5步：落到 06 行動路線，看到你的合約與時點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24612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5331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到哪一頁 WHERE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57276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06_行動路線_Roadmap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1298448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13533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做什麼 WHAT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14216" y="15727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在「對應能力 CAPs」欄找含 CAP-027~032 的工作包，得 WP-13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298448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353312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得到什麼 RESULT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57616" y="15727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得到進場月份、工期、主責與驗收門檻，可以談合約了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73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07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286000"/>
            <a:ext cx="11155680" cy="1243584"/>
          </a:xfrm>
          <a:prstGeom prst="roundRect">
            <a:avLst>
              <a:gd name="adj" fmla="val 4412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76200" dist="19050" dir="5400000">
              <a:srgbClr val="8A9099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395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WP-13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9456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醫材採購、安裝與介接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194560" y="2743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2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對應能力：CAP-027 ~ CAP-032　｜　主責：醫材整合商　｜　協作：臨床工程、醫療資訊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30540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D0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28 個月起 · 為期 14 個月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2432304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B3357"/>
          </a:solidFill>
          <a:ln w="12700">
            <a:solidFill>
              <a:srgbClr val="3E5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2505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驗收門檻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52560" y="27980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設備驗收＋資產清冊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178808"/>
            <a:ext cx="11155680" cy="4572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22976" y="4105656"/>
            <a:ext cx="2602992" cy="192024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123944"/>
            <a:ext cx="155448" cy="1554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361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M0 啟動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56332" y="4123944"/>
            <a:ext cx="155448" cy="1554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1956816" y="4361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投資決策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45252" y="4123944"/>
            <a:ext cx="155448" cy="155448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31" name="Text 29"/>
          <p:cNvSpPr/>
          <p:nvPr/>
        </p:nvSpPr>
        <p:spPr>
          <a:xfrm>
            <a:off x="4745736" y="4361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M28 你進場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8244" y="4123944"/>
            <a:ext cx="155448" cy="1554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7348728" y="4361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M42 驗收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49740" y="4123944"/>
            <a:ext cx="155448" cy="1554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Text 33"/>
          <p:cNvSpPr/>
          <p:nvPr/>
        </p:nvSpPr>
        <p:spPr>
          <a:xfrm>
            <a:off x="8650224" y="4361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M48 開院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503152" y="4123944"/>
            <a:ext cx="155448" cy="1554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10104120" y="4361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M60 複製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個月整合路線圖（示意時程，實際依專案調整）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4956048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029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所以，這位醫材整合商今天得到的答案是：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22960" y="5358384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能做什麼 →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CAP-028/029/030 三個空位＋031/032 兩個協作位　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何時做 →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28 個月進場，但 G2（第 6 個月）就要參與規劃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要準備什麼 →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越南醫材註冊路徑、ISO 13485/14971、IHE 符合性計畫　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 →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 04 夥伴拼圖做資格審查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案例一 · 收尾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如果你決定要補這個缺口，接下來的四個動作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缺口不會自己消失。這四步做完，01 總藍圖上那個紅色格子就會變色。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556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6654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11_缺口招募_GapRFI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3042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我方：把該列複製出來，附上要求的資格與標準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2011680"/>
            <a:ext cx="18288" cy="566928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9385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一份可以直接寄出的 RFI 需求說明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11155680" cy="932688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127248"/>
            <a:ext cx="457200" cy="457200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VMH-EcoMap-3 夥伴提案回覆表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649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貴公司：填四張分頁——公司資料、能力自評、實績證照、越南落地與來源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66760" y="3072384"/>
            <a:ext cx="18288" cy="566928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999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七構面自評分數與可查證實績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111556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1879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04_夥伴拼圖_Partners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4256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我方：把回覆填進名冊、七構面給分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0" y="4133088"/>
            <a:ext cx="18288" cy="566928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405993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適配分自動算出；覆蓋矩陣自動多一列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5010912"/>
            <a:ext cx="11155680" cy="932688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248656"/>
            <a:ext cx="457200" cy="457200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03_能力總表_Master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54864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我方：把 CAP-028 的拼圖狀態由「缺口-待尋找」改成「夥伴洽談中」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66760" y="5193792"/>
            <a:ext cx="18288" cy="566928"/>
          </a:xfrm>
          <a:prstGeom prst="rect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5120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總藍圖紅格轉橘，缺口數 9→8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1447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這四步全部有紀錄可查：夥伴回覆表存檔、04 的資格分數留底、03 的狀態變更寫進 10_決策紀錄。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案例演練 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群晶自己的位置：8 項主導，7 項可立即推進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同一套規則也用在召集人身上。工具不會因為誰是主辦就放寬標準。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4480560" cy="379476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828800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83480" y="1828800"/>
            <a:ext cx="1005840" cy="379476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5776" y="1828800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1005840" cy="379476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1828800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828800"/>
            <a:ext cx="1005840" cy="379476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1828800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657600" cy="379476"/>
          </a:xfrm>
          <a:prstGeom prst="rect">
            <a:avLst/>
          </a:prstGeom>
          <a:solidFill>
            <a:srgbClr val="12233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3296" y="1828800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208276"/>
            <a:ext cx="448056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208276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CAP-020 IDC 與邊緣運算底座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2208276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208276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208276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2208276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95160" y="2208276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2208276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2208276"/>
            <a:ext cx="365760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83296" y="2208276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2587752"/>
            <a:ext cx="448056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587752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CAP-021 有線無線網路與分區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83480" y="2587752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2587752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2587752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2587752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95160" y="2587752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587752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01000" y="2587752"/>
            <a:ext cx="365760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2587752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2967228"/>
            <a:ext cx="448056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2967228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CAP-023 BMS 與能源管理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983480" y="2967228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65776" y="2967228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89320" y="2967228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2967228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995160" y="2967228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7456" y="2967228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01000" y="2967228"/>
            <a:ext cx="365760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83296" y="2967228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3346704"/>
            <a:ext cx="448056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3346704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CAP-024 RTLS 與資產／人員定位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983480" y="3346704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65776" y="3346704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989320" y="3346704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71616" y="3346704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995160" y="3346704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77456" y="3346704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01000" y="3346704"/>
            <a:ext cx="365760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83296" y="3346704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02920" y="3726180"/>
            <a:ext cx="448056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" y="3726180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CAP-025 智慧病房、護理呼叫與感測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983480" y="3726180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65776" y="3726180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989320" y="3726180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71616" y="3726180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995160" y="3726180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77456" y="3726180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001000" y="3726180"/>
            <a:ext cx="365760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83296" y="3726180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02920" y="4105656"/>
            <a:ext cx="448056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" y="4105656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CAP-026 災難復原與營運持續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983480" y="4105656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65776" y="4105656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989320" y="4105656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71616" y="4105656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6995160" y="4105656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77456" y="4105656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001000" y="4105656"/>
            <a:ext cx="365760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83296" y="4105656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02920" y="4485132"/>
            <a:ext cx="448056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5216" y="4485132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CAP-053 CMMS 與設施維運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4983480" y="4485132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65776" y="4485132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G4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5989320" y="4485132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71616" y="4485132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6995160" y="4485132"/>
            <a:ext cx="100584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77456" y="4485132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8001000" y="4485132"/>
            <a:ext cx="3657600" cy="379476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83296" y="4485132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立即推進 Go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02920" y="4864608"/>
            <a:ext cx="448056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5216" y="4864608"/>
            <a:ext cx="431596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CAP-016 電力、備援與微電網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4983480" y="4864608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65776" y="4864608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G3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5989320" y="4864608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71616" y="4864608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6995160" y="4864608"/>
            <a:ext cx="100584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77456" y="4864608"/>
            <a:ext cx="84124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2.7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8001000" y="4864608"/>
            <a:ext cx="3657600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83296" y="4864608"/>
            <a:ext cx="34930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先補條件 Prepare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502920" y="5257800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2960" y="534924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為什麼只有 CAP-016 是 Prepare？　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因為它的前置是 CAP-013 場址與醫院總體規劃——場址還沒定，電力容量與備援架構就算不出來。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 A 軸存在的意義：不是技術不行，是順序還沒到。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案例演練 三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新增一個商機，只要 30 秒——而且全部自動更新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實測：在 03 能力總表加一列「醫院專用私有雲平台」，工具的每個視圖同步變化。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66160" cy="3794760"/>
          </a:xfrm>
          <a:prstGeom prst="roundRect">
            <a:avLst>
              <a:gd name="adj" fmla="val 153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你只做這件事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03 能力總表的第一個空白列，填入以下黃色儲存格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 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4708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CAP-061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319272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192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47088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D04 數位基建與物聯網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58184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581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47088" y="3758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197096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1970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能力名稱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47088" y="4197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醫院專用私有雲平台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636008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6360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拼圖狀態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4636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缺口-待尋找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507492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 / 準備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47088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4,3,5 / 2,2,3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6052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28800"/>
            <a:ext cx="69037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659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工具自動變化的地方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2286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（以下為實際測試結果，非示意）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83480" y="2606040"/>
            <a:ext cx="6446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總藍圖 能力總數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2606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4108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0" y="26060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3017520"/>
            <a:ext cx="6446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總藍圖 ○ 缺口總數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3017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4108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61120" y="30175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3429000"/>
            <a:ext cx="6446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56632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D04 領域缺口數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3429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4108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61120" y="34290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83480" y="3840480"/>
            <a:ext cx="6446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階段缺口數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89520" y="3840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41080" y="3840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961120" y="38404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83480" y="4251960"/>
            <a:ext cx="6446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56632" y="4251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總藍圖 D04×G2 格子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89520" y="4251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（空白）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41080" y="4251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61120" y="42519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061 醫院專用私有雲平台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83480" y="4663440"/>
            <a:ext cx="64465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56632" y="4663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該列商業判斷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589520" y="4663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41080" y="4663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961120" y="46634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先補條件 Prepare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983480" y="5074920"/>
            <a:ext cx="6446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F0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56632" y="5074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夥伴拼圖 缺口統計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58952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已同步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641080" y="5074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F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961120" y="50749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已同步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02920" y="576072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576072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唯一要手動的事：某格項目變多、文字被截斷時 → 選取該列 → 常用 → 格式 → 自動調整列高。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OPPORTUNITY 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我們把越南醫院市場拆成 85 門可以獨立談的生意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商機字典：A~J 十個族群，每一門都寫清楚「在賣什麼、誰付錢、大概多少錢、越南現況」。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規劃投資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88920" y="18745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8892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建築工程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7492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醫材設備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18745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6092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數位基建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46920" y="18745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4692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醫療資訊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3E8FA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3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2920" y="3959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AI智慧醫療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88920" y="3246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788920" y="3959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 品質人才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74920" y="3246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074920" y="3959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 供應鏈維運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60920" y="3246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60920" y="3959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照護新業態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646920" y="3246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646920" y="3959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 商模支付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33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 門生意裡，有 40 門在越南「幾乎沒人做」（③尚未出現）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SPD院內物流、第三方滅菌、設備託管、長照連鎖、居家醫療、越南語AI病歷……先進場的人定規則。每一門都標好了在地競爭者與我們的切入角度。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TO ATTACK FIRST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 門生意不會同時打——工具自動排出攻擊順位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優先分＝0.45×價值＋0.35×準備＋0.2×越南空白程度－缺口扣分。前十名多是「沒人做＋我們做得到」的先行者生意。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5（即時排名見主工具儀表板）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DCEBD0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2494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居家醫療、居家護理與安寧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12080" y="224942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尚未出現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22494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輕資產、90%長者盼在宅照顧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35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9992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復健與亞急性照護中心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29992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尚未出現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999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分級轉診改革釋出的需求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856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閉環給藥與條碼用藥安全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12080" y="3749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尚未出現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749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JCI與病安評鑑的必考題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443984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35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498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臨床術語與編碼服務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12080" y="44988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尚未出現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4988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國家標準指定、無在地供應商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5193792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2852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34440" y="52486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災難復原與營運持續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212080" y="524865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尚未出現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52486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電子病歷法規的硬性前提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83880" y="2194560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FD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3774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另外 6 門是「白地商機」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越南有這門生意，但聯盟目前沒有任何能力對得上：結核胸片AI、糖尿病視網膜AI、病理AI、越南語AI病歷、臨床大模型、敗血症預警AI。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33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這不是弱點清單——是招募英雄帖。你會其中一項，位子就是你的。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你加入聯盟＝一次結盟、多門生意：回覆表 06 分頁可以直接對照「你的能力 → 能參與哪些商機」。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WE RUN A DEAL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每一門生意都有一張「作戰卡」：一頁看完怎麼打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商機作戰卡：選一個商機，自動組出需要哪些能力、誰在做誰還缺、對手是誰、憑什麼贏、卡哪些法規門檻。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0F7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476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需要哪些能力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94767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矩陣打✓的能力自動列出，紅色列＝斷點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0" y="19476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能力總表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誰在做、誰還缺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7889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拼圖狀態＋候選夥伴＋準備分逐列攤開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0" y="27889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夥伴拼圖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57016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0F7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3016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對手是誰、憑什麼贏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63016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在地競爭者與我們的切入角度（研究預填）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0" y="363016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商機字典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398264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7141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卡哪些門檻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447141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每項能力的關鍵法規代號，強制未過不承諾時程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0" y="447141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法規門檻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239512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0F7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1266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下一步寫回哪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53126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會議結論回 14 商機清單；缺口發 11 的 RFI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0" y="531266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14＋11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33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缺口招募也有優先序：每個缺口自動算「牽動幾門生意」——手術室整合牽動 7 門、影像PACS牽動 6 門，先補牽動最多的。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MONEY QUESTION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「聽起來不錯，但這一台 CT 到底划不划算？」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這個問題主工具回答不了——它的單位是能力項。所以另外交付一個專案商模試算器。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6537960" cy="694944"/>
          </a:xfrm>
          <a:prstGeom prst="roundRect">
            <a:avLst>
              <a:gd name="adj" fmla="val 789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02_投資成本 CAPEX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 97 萬＋工程 29.5 萬＋軟體 12 萬＋服務備品 22.5 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0" y="188366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1,675,000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6537960" cy="694944"/>
          </a:xfrm>
          <a:prstGeom prst="roundRect">
            <a:avLst>
              <a:gd name="adj" fmla="val 789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03_營運成本 OPEX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放射師 3 人＋醫師 2 人＋維保＋耗材＋電力＋授權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267004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323,000 / 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6537960" cy="694944"/>
          </a:xfrm>
          <a:prstGeom prst="roundRect">
            <a:avLst>
              <a:gd name="adj" fmla="val 789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04_收入與產能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7307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件/日 × 310 日；健保 55／自費 110，自費占 30%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45643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709,280 / 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1403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35240" y="1828800"/>
            <a:ext cx="1920240" cy="1060704"/>
          </a:xfrm>
          <a:prstGeom prst="roundRect">
            <a:avLst>
              <a:gd name="adj" fmla="val 5172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190195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NPV 淨現值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08392" y="213969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+305,585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08392" y="25786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92640" y="1828800"/>
            <a:ext cx="1920240" cy="1060704"/>
          </a:xfrm>
          <a:prstGeom prst="roundRect">
            <a:avLst>
              <a:gd name="adj" fmla="val 5172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5792" y="190195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IRR 內部報酬率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65792" y="213969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15.7%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65792" y="257860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折現率門檻 12%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3017520"/>
            <a:ext cx="1920240" cy="1060704"/>
          </a:xfrm>
          <a:prstGeom prst="roundRect">
            <a:avLst>
              <a:gd name="adj" fmla="val 517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3090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折現回收期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08392" y="332841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年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08392" y="376732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設備第 8 年置換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92640" y="3017520"/>
            <a:ext cx="1920240" cy="1060704"/>
          </a:xfrm>
          <a:prstGeom prst="roundRect">
            <a:avLst>
              <a:gd name="adj" fmla="val 517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5792" y="3090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投報倍數 MOIC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65792" y="332841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2.24 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765792" y="376732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年現金流 ÷ 投資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4315968"/>
            <a:ext cx="11155680" cy="1353312"/>
          </a:xfrm>
          <a:prstGeom prst="roundRect">
            <a:avLst>
              <a:gd name="adj" fmla="val 4054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407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但敏感度分析說了一件更重要的事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4736592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服務量只要少 15%（32 件/日 → 27 件/日），NPV 就從 +30.6 萬變成 −30.5 萬，整案不成立。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這代表本案對「量」的依賴過高。談判時該爭取的不是設備折扣，而是保底檢查量或轉診承諾。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上述金額為規劃用示意值，用來示範模型如何運作；正式評估前每一筆都必須以廠商報價與越南在地估算取代，並在 08_假設來源分頁登錄出處。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WEEKLY PAGE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待辦看板：週會不用翻二十一個分頁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三張自動清單合在一頁，順序就是處理優先序。全部是公式，不需要有人整理。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70048" cy="1005840"/>
          </a:xfrm>
          <a:prstGeom prst="roundRect">
            <a:avLst>
              <a:gd name="adj" fmla="val 5455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56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未確認強制法規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331434" y="1783080"/>
            <a:ext cx="2670048" cy="1005840"/>
          </a:xfrm>
          <a:prstGeom prst="roundRect">
            <a:avLst>
              <a:gd name="adj" fmla="val 545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2874" y="1856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極高＋高風險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22874" y="213055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159947" y="1783080"/>
            <a:ext cx="2670048" cy="1005840"/>
          </a:xfrm>
          <a:prstGeom prst="roundRect">
            <a:avLst>
              <a:gd name="adj" fmla="val 545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1387" y="1856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缺口-待尋找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51387" y="213055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988461" y="1783080"/>
            <a:ext cx="2670048" cy="1005840"/>
          </a:xfrm>
          <a:prstGeom prst="roundRect">
            <a:avLst>
              <a:gd name="adj" fmla="val 5455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01" y="18562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先補條件 Prepare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79901" y="213055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02920" y="2999232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72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未確認的強制法規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4381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過不了關就白做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072384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來源：05_法規門檻（層級＝強制 且 狀態＝待確認）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959352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32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極高與高風險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3982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會讓案子翻車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032504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來源：08_風險清冊（機率 × 衝擊 ≥ 12）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919472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92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尚無夥伴的缺口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3583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招募重點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992624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來源：03_能力總表（拼圖狀態＝缺口-待尋找）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925312"/>
            <a:ext cx="1115568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9253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規則：本頁不做註記。要處理某一項，回到來源分頁（05／08／03）改，看板自動更新；結論寫進 10_決策紀錄。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OPERATING RHYTHM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週會就照這五步跑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工具不是做完就收起來的簡報，是每週會議的議程本身。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1115568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29384"/>
            <a:ext cx="512064" cy="512064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01 總藍圖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4708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紅色缺口與門檻警示＝本週要解的事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11155680" cy="722376"/>
          </a:xfrm>
          <a:prstGeom prst="roundRect">
            <a:avLst>
              <a:gd name="adj" fmla="val 759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752344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67004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 03 能力總表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67004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新商機、新夥伴、新證據 → 只改黃色儲存格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1115568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575304"/>
            <a:ext cx="512064" cy="512064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575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49300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 04 夥伴拼圖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49300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缺口領域找誰補？候選夥伴過資格審查了嗎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11155680" cy="722376"/>
          </a:xfrm>
          <a:prstGeom prst="roundRect">
            <a:avLst>
              <a:gd name="adj" fmla="val 759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398264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398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17320" y="431596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 05 法規門檻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431596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本階段強制法規確認了沒？未確認不得過關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102352"/>
            <a:ext cx="1115568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5221224"/>
            <a:ext cx="512064" cy="512064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417320" y="513892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 06 行動路線 + 08 風險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513892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C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工作包進度；極高風險升級決策，記入 10 決策紀錄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5989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每一次決策都要留下紀錄與來源——沒有來源的數字，不可以對越南官方引用。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DISCIPLINE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為什麼所有欄位都改成下拉選單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一個工具會不會爛掉，取決於三個月後大家填進去的東西還能不能被統計。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沒有下拉會發生什麼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同一件事三種寫法：「缺口」「缺口-待尋找」「待找」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7157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COUNTIF 只認完全相同的文字 → 統計悄悄歸零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0998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09981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總藍圖的紅格消失了，但缺口其實還在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4838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48386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沒有人會發現，因為公式不會報錯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現在的做法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3317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33172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2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所有選項值集中在「98_選單維護」一頁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27157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2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各分頁的下拉是動態具名範圍，不是寫死的清單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0998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309981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2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98 該欄最下方接著填一個值，全工具立刻多一個選項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4838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E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48386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2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「候選夥伴」下拉直接讀 04 夥伴拼圖的名冊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20624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976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所以「台灣參考醫院」這種角色現在是一筆正式資料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62686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夥伴拼圖的名冊已擴充到 29 個角色，其中 9 個是「缺口-待尋找」：影像 PACS、檢驗 LIS、手術室設備、VNeID 介接、病人支付、醫護大學、健保申報、金流、國際醫療通路。它們一出現在名冊上，就從一個概念變成有編號、有領域、有資格欄位、可被指派的具體對象。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唯一的維護規則：要新增選項就到 98 那一欄的最下方接著填，不要在清單中間留空白列。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WE ASK FROM YOU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想進聯盟，請準備這六樣東西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我們區分「關係」與「交付能力」。工具用實績評分，不用交情評分。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84448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048256"/>
            <a:ext cx="384048" cy="38404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029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實績 References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487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同類專案的可查證案例，最好有醫療場域經驗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3584448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048256"/>
            <a:ext cx="384048" cy="38404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74336" y="2029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顧問能力 Advisory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487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能不能協助定義需求與規格，而不只是報價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55864" y="1828800"/>
            <a:ext cx="3584448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2048256"/>
            <a:ext cx="384048" cy="38404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50808" y="2029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建置能力 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57032" y="2487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自有工班或整合團隊，能在越南現場交付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584448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3465576"/>
            <a:ext cx="384048" cy="38404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97864" y="34472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營運能力 Operate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3904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交付後的維運、備品、回應時間與服務水準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79392" y="3246120"/>
            <a:ext cx="3584448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465576"/>
            <a:ext cx="384048" cy="38404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74336" y="34472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互通能力 Interop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3904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願意採用開放標準與 API，接受符合性測試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55864" y="3246120"/>
            <a:ext cx="3584448" cy="123444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65576"/>
            <a:ext cx="384048" cy="38404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33" name="Text 31"/>
          <p:cNvSpPr/>
          <p:nvPr/>
        </p:nvSpPr>
        <p:spPr>
          <a:xfrm>
            <a:off x="8257032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50808" y="34472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在地化 Localization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57032" y="3904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越南據點、語言、在地人員與技術移轉承諾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480060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9194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每項 0–5 分，工具自動算出適配分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1520" y="52303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另加一欄「來源風險」：軟硬體與韌體來源國、資料存取權、境外次處理者、供應鏈替代性。這是內部稽核欄位，不會出現在對外簡報。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0" y="480060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9194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獨立驗證單位必須無交付利益衝突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46520" y="524865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資安、臨床安全與成本驗證由不參與交付的第三方執行。這是讓越南官方與投資方信任這個聯盟的關鍵設計。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90 DAYS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接下來三個月，我們要一起完成的四件事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對應工具的 G0 與 G1 階段。做完這四件，才有資格談投資與交易模式。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55680" cy="896112"/>
          </a:xfrm>
          <a:prstGeom prst="roundRect">
            <a:avLst>
              <a:gd name="adj" fmla="val 612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116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WP-01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0512" y="1956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政府授權與計畫章程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10512" y="23225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把政治支持轉為正式授權、章程與決策權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1–2 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辦公室 + 政府贊助方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11155680" cy="896112"/>
          </a:xfrm>
          <a:prstGeom prst="roundRect">
            <a:avLst>
              <a:gd name="adj" fmla="val 612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035808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0358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WP-04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2980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法規、資料與執照盤點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10512" y="33467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找出不可行條件與許可關鍵路徑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30358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2–5 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3035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越南法律顧問 + 醫材法規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877056"/>
            <a:ext cx="11155680" cy="896112"/>
          </a:xfrm>
          <a:prstGeom prst="roundRect">
            <a:avLst>
              <a:gd name="adj" fmla="val 612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059936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599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WP-02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10512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商機與場址快速評估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10512" y="4370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篩選新建、升級、合資與專科機會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0" y="40599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2–4 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4059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+ 建築 + 臨床規劃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901184"/>
            <a:ext cx="11155680" cy="896112"/>
          </a:xfrm>
          <a:prstGeom prst="roundRect">
            <a:avLst>
              <a:gd name="adj" fmla="val 6122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084064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BF8F00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084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WP-07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10512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聯盟夥伴資格審查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810512" y="5394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驗證能力、實績、來源風險與在地交付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0" y="50840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4–9 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0" y="50840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全體候選夥伴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時程為工具內建示意值，正式授權後以實際專案起始日重新設定。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會後請做三件事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把今天的討論變成工具裡的一列資料，這場會議才算完成。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1B3357"/>
          </a:solidFill>
          <a:ln w="12700">
            <a:solidFill>
              <a:srgbClr val="2E47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61488"/>
            <a:ext cx="457200" cy="45720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660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認領你的位置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30266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01 總藍圖找到你的領域列，告訴我們你能主責哪幾項能力（含缺口）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1B3357"/>
          </a:solidFill>
          <a:ln w="12700">
            <a:solidFill>
              <a:srgbClr val="2E47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904488"/>
            <a:ext cx="457200" cy="45720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803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提交資格證明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41696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實績、越南註冊狀態或路徑、在地服務能力、來源風險說明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515600" cy="960120"/>
          </a:xfrm>
          <a:prstGeom prst="roundRect">
            <a:avLst>
              <a:gd name="adj" fmla="val 6667"/>
            </a:avLst>
          </a:prstGeom>
          <a:solidFill>
            <a:srgbClr val="1B3357"/>
          </a:solidFill>
          <a:ln w="12700">
            <a:solidFill>
              <a:srgbClr val="2E47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047488"/>
            <a:ext cx="457200" cy="45720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946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指定一位窗口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3126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每家夥伴一位可決策的對口，進入 PI 週會的更新循環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E93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我們的立場：由越南主導、結合越南在地醫療與產業夥伴，導入台灣的醫院營運與系統整合經驗以及國際成熟技術，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E93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建立一座可由越南長期營運、維護並向外複製的現代化示範醫院。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2026-08-13T07:17:55Z</dcterms:created>
  <dcterms:modified xsi:type="dcterms:W3CDTF">2026-08-13T07:17:55Z</dcterms:modified>
</cp:coreProperties>
</file>