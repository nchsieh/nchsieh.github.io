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開場一句話：今天不是要說服各位這個案子好，是要讓各位知道我們用什麼方法在判斷好壞。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先讓每個人知道自己該聽哪一段，注意力會集中很多。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這一頁講「痛」，不講工具。讓聽眾自己得出「需要一套判準」的結論。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不必細講每一份，重點是「分工清楚、序號就是順序」。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這一頁是承上啟下。講完就進入核心觀念。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這一頁回答「85 這個數字哪來的」。
講法建議：「這份清單不是顧問腦力激盪列出來的。我們先定義醫院要會的 60 件事、七個階段、37 條法規門檻，三個軸相乘，交會處每一格就是一門可以獨立簽約的生意。方法在前、清單在後——所以你可以挑戰任何一格，我們可以告訴你它是從哪兩個軸交出來的。」
【術語白話】
三軸相乘——不是數學上的 60×7×37，是「在哪個能力、哪個階段、過哪些門檻」的組合篩選，篩出商業上站得住的 85 門。
攻擊順位——公式自動排序，權重（政府 35／臨床 30／商業 35）在 02 情境權重分頁，董事會可以核定調整——調權重就是調戰略，這是設計好的治理介面。
白地商機——85 門中有 6 門在越南「還沒有人做」。公式因為無法評分而給 0，反而是最值得人工判讀的訊號。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這一頁與族群分類（A–J）互補：族群是「同行歸類」，層級是「依賴關係」。
講法建議：「像網際網路一樣，下層是上層的地基。做 AI 的生意再好，醫院沒有機房與資料平台就落不了地。所以看一門生意除了看它自己，還要看它腳下那幾層在越南到位了沒有——這就是為什麼電子病歷強制化是整個 L4 以上生意的引爆點。」
【術語白話】
堆疊（stack）——資訊業慣用語，指分層架構。每一層只依賴下一層，不跳層。
G 治理合規層——不是一層「產品」，是貫穿所有層的「管線」：每一層的生意都要經過法規、登記、個資、認證。
被問「分層跟族群哪個對」——都對，兩個軸看同一批生意：族群用來對外溝通（這是哪一行），層級用來做投資與結盟判斷（誰依賴誰）。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這一頁回答「你們的市場判斷憑什麼」。
講法建議：「我們的規矩是三條：每個判斷寫清楚過去現在未來、每個數字附得上出處、查不到的老實標 C 而不是編一個。被追問任何一個數字，翻到 21 情報來源分頁，45 條網址都在。」
【術語白話】
三時態——不是預測學，是把「已簽發、有生效日」的法規時程排上時間軸。QCVN 04-3 是 2027-02-01 生效，這不是預測，是日曆。
信心 C——例：RTLS 在越南零具名案例。這個「零」查了四組來源才敢寫，它的價值是告訴你：進這個市場要自備市場教育成本，同時也沒有先行者壓著你。
查證日——所有結論標注 2026-08-15。情報有半衰期，重大決策前要重新查證關鍵項。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這一頁把方法論從「評估」延伸到「成交」，回應「工具做完然後呢」的疑問。
講法建議：「前面講的是怎麼選戰場，這一頁講選完怎麼打。五個階段各有工具，P0 已經在手上：十題資格審查、預算或付款是零分就一票否決——我們對自己的時間也用同一套紀律。」
【術語白話】
一票否決——資格審查十題中 Q1 預算與 Q6 付款任一為 0，總分再高都暫停。依據是白梅二院教訓：公立工程付款風險是制度性的，不是個案。
資格文件庫——投標資格文件的公證認證以「週」計，而 Decree 71/2025 把招標窗口壓到 10–60 天：公告才開始準備＝棄權。所以文件庫是 P0 不是 P3。
背對背（back-to-back）——對外簽的責任，透過聯盟協議按層分給對應夥伴，召集人不獨背全部風險。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請停在這一頁。左邊那個數字是很多公司否決基礎建設的原因，右邊才是對的問法。46% 與 55/37 最有說服力。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六類別的骨架來自 Weill 四分類與 CFA 資本預算分類，組合方式是我們的設計——第 19 頁會誠實交代。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董事會最在意的就是「會不會被操弄」。這一頁要主動講，不要等人問。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財務背景的人會追問 MIRR，右下那段就是答案。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投資方在這一頁最容易有意見，讓他們當場說出想用的折現率，現場改給他們看。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做過越南案子的人聽到第一項會點頭。這一頁最能建立「我們真的懂在地」的印象。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龍捲風圖是最能說服工程背景聽眾的一頁——它把「該擔心什麼」量化了。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中間那一欄的兩列（NPV 負、ΔTCO 正）是全場最重要的對照。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這一頁證明工具不只算數字，還會指出談判該爭什麼。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業主是 IDC 專業，這一頁要讓他看到我們把機房的價值算對了，而且非財務因素也列了。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這一頁示範「壞消息也要好好講」。任一關卡未達成即停止投入，這是 CFA 對高不確定性專案的建議作法。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董事會最重視這一頁。最後那句話一定要講——不要誇大工具的能耐。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這一頁反而最能建立信任。主動說清楚哪些是假設，對方才敢相信其他的部分。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最後那一行一定要念出來，避免有人誤以為模擬案可以直接拿去投。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會議的結論就落在這一頁，四個人各認一件事。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有人要書面依據就把這一頁截圖給他。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收尾回到立場，提醒對越方的說法要一致。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VMH-EcoMap｜越南現代醫院生態導入盤點器　·　方法論與投資決策架構</a:t>
            </a:r>
            <a:endParaRPr lang="en-US" sz="9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6002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500" kern="0" dirty="0">
                <a:solidFill>
                  <a:srgbClr val="7A8CA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VMH-EcoMap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822960" y="2103120"/>
            <a:ext cx="10515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方法論與</a:t>
            </a:r>
            <a:endParaRPr lang="en-US" sz="50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投資決策架構</a:t>
            </a:r>
            <a:endParaRPr lang="en-US" sz="5000" dirty="0"/>
          </a:p>
        </p:txBody>
      </p:sp>
      <p:sp>
        <p:nvSpPr>
          <p:cNvPr id="4" name="Text 2"/>
          <p:cNvSpPr/>
          <p:nvPr/>
        </p:nvSpPr>
        <p:spPr>
          <a:xfrm>
            <a:off x="822960" y="3950208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9FB6D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Methodology &amp; Investment Decision Framework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22960" y="4617720"/>
            <a:ext cx="10515600" cy="914400"/>
          </a:xfrm>
          <a:prstGeom prst="roundRect">
            <a:avLst>
              <a:gd name="adj" fmla="val 6000"/>
            </a:avLst>
          </a:prstGeom>
          <a:solidFill>
            <a:srgbClr val="1B3357"/>
          </a:solidFill>
          <a:ln w="12700">
            <a:solidFill>
              <a:srgbClr val="1B335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4754880"/>
            <a:ext cx="996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C1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給業主、投資方、董事會與顧問　</a:t>
            </a:r>
            <a:pPr indent="0" marL="0">
              <a:buNone/>
            </a:pPr>
            <a:r>
              <a:rPr lang="en-US" sz="1400" dirty="0">
                <a:solidFill>
                  <a:srgbClr val="C7D5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——這套工具用了哪些理論架構與專業知識，以及哪些不是理論、是我們的設計判斷。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58064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8CA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群晶科技 × 越南現代醫院聯盟　|　2026.08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329184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2E74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HOW TO READ THIS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02920" y="603504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223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四種角色，各自關心的問題不一樣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02920" y="1207008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時間有限的話，請直接翻到跟你角色相關的頁次。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1828800"/>
            <a:ext cx="2670048" cy="3931920"/>
          </a:xfrm>
          <a:prstGeom prst="roundRect">
            <a:avLst>
              <a:gd name="adj" fmla="val 2055"/>
            </a:avLst>
          </a:prstGeom>
          <a:solidFill>
            <a:srgbClr val="FFF2CC"/>
          </a:solidFill>
          <a:ln w="12700">
            <a:solidFill>
              <a:srgbClr val="FFF2C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04088" y="2029968"/>
            <a:ext cx="1371600" cy="420624"/>
          </a:xfrm>
          <a:prstGeom prst="roundRect">
            <a:avLst>
              <a:gd name="adj" fmla="val 19565"/>
            </a:avLst>
          </a:prstGeom>
          <a:solidFill>
            <a:srgbClr val="BF8F00"/>
          </a:solidFill>
          <a:ln/>
        </p:spPr>
      </p:sp>
      <p:sp>
        <p:nvSpPr>
          <p:cNvPr id="8" name="Text 6"/>
          <p:cNvSpPr/>
          <p:nvPr/>
        </p:nvSpPr>
        <p:spPr>
          <a:xfrm>
            <a:off x="704088" y="2029968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業主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04088" y="260604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60" kern="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你會問的是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704088" y="2871216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先做哪些案子？我的專業領域有沒有被正確評估？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04088" y="420624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60" kern="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請看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704088" y="448056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BF8F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P10–12　核心觀念與六類別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BF8F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P18–21　三個模擬案的結果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374136" y="1828800"/>
            <a:ext cx="2670048" cy="3931920"/>
          </a:xfrm>
          <a:prstGeom prst="roundRect">
            <a:avLst>
              <a:gd name="adj" fmla="val 2055"/>
            </a:avLst>
          </a:prstGeom>
          <a:solidFill>
            <a:srgbClr val="DCEBD0"/>
          </a:solidFill>
          <a:ln w="12700">
            <a:solidFill>
              <a:srgbClr val="DCEBD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575304" y="2029968"/>
            <a:ext cx="1371600" cy="420624"/>
          </a:xfrm>
          <a:prstGeom prst="roundRect">
            <a:avLst>
              <a:gd name="adj" fmla="val 19565"/>
            </a:avLst>
          </a:prstGeom>
          <a:solidFill>
            <a:srgbClr val="548235"/>
          </a:solidFill>
          <a:ln/>
        </p:spPr>
      </p:sp>
      <p:sp>
        <p:nvSpPr>
          <p:cNvPr id="15" name="Text 13"/>
          <p:cNvSpPr/>
          <p:nvPr/>
        </p:nvSpPr>
        <p:spPr>
          <a:xfrm>
            <a:off x="3575304" y="2029968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投資方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575304" y="260604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60" kern="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你會問的是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575304" y="2871216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這些數字可不可信？報酬怎麼算出來的？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575304" y="420624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60" kern="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請看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575304" y="448056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48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P13–17　財務方法與越南特有陷阱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48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P18–21　三案的報酬與風險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245352" y="1828800"/>
            <a:ext cx="2670048" cy="3931920"/>
          </a:xfrm>
          <a:prstGeom prst="roundRect">
            <a:avLst>
              <a:gd name="adj" fmla="val 2055"/>
            </a:avLst>
          </a:prstGeom>
          <a:solidFill>
            <a:srgbClr val="DCE6F4"/>
          </a:solidFill>
          <a:ln w="12700">
            <a:solidFill>
              <a:srgbClr val="DCE6F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46520" y="2029968"/>
            <a:ext cx="1371600" cy="420624"/>
          </a:xfrm>
          <a:prstGeom prst="roundRect">
            <a:avLst>
              <a:gd name="adj" fmla="val 19565"/>
            </a:avLst>
          </a:prstGeom>
          <a:solidFill>
            <a:srgbClr val="1F3864"/>
          </a:solidFill>
          <a:ln/>
        </p:spPr>
      </p:sp>
      <p:sp>
        <p:nvSpPr>
          <p:cNvPr id="22" name="Text 20"/>
          <p:cNvSpPr/>
          <p:nvPr/>
        </p:nvSpPr>
        <p:spPr>
          <a:xfrm>
            <a:off x="6446520" y="2029968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董事會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446520" y="260604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60" kern="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你會問的是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446520" y="2871216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決策框架是什麼？怎麼確保數字不被美化？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446520" y="420624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60" kern="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請看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446520" y="448056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F386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P10–12　投資分類框架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F386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P22–24　治理與誠實揭露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9116568" y="1828800"/>
            <a:ext cx="2670048" cy="3931920"/>
          </a:xfrm>
          <a:prstGeom prst="roundRect">
            <a:avLst>
              <a:gd name="adj" fmla="val 2055"/>
            </a:avLst>
          </a:prstGeom>
          <a:solidFill>
            <a:srgbClr val="D9EDEF"/>
          </a:solidFill>
          <a:ln w="12700">
            <a:solidFill>
              <a:srgbClr val="D9EDE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317736" y="2029968"/>
            <a:ext cx="1371600" cy="420624"/>
          </a:xfrm>
          <a:prstGeom prst="roundRect">
            <a:avLst>
              <a:gd name="adj" fmla="val 19565"/>
            </a:avLst>
          </a:prstGeom>
          <a:solidFill>
            <a:srgbClr val="2E747A"/>
          </a:solidFill>
          <a:ln/>
        </p:spPr>
      </p:sp>
      <p:sp>
        <p:nvSpPr>
          <p:cNvPr id="29" name="Text 27"/>
          <p:cNvSpPr/>
          <p:nvPr/>
        </p:nvSpPr>
        <p:spPr>
          <a:xfrm>
            <a:off x="9317736" y="2029968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顧問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9317736" y="260604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60" kern="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你會問的是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9317736" y="2871216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方法論依據？我要怎麼操作與維護？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9317736" y="420624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60" kern="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請看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9317736" y="448056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2E74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全部，特別是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2E74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P6–9 盤點情報　P13–17 財務　P26 出處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502920" y="5870448"/>
            <a:ext cx="11155680" cy="548640"/>
          </a:xfrm>
          <a:prstGeom prst="roundRect">
            <a:avLst>
              <a:gd name="adj" fmla="val 10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77240" y="5925312"/>
            <a:ext cx="10607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3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如果只有五分鐘：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看第 10 頁（同一座機房，兩種算法得到相反結論）與第 22 頁（哪些有出處、哪些是我們的假設）。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329184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2E74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THE PROBLEM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02920" y="603504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223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越南醫院市場的難處，不是機會太少，是機會太多而判準不一致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02920" y="1207008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85 門可以獨立談的生意、60 項能力、29 個夥伴角色——沒有共同判準，每個人都會說自己的案子最該做。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1874520"/>
            <a:ext cx="5468112" cy="1627632"/>
          </a:xfrm>
          <a:prstGeom prst="roundRect">
            <a:avLst>
              <a:gd name="adj" fmla="val 3371"/>
            </a:avLst>
          </a:prstGeom>
          <a:solidFill>
            <a:srgbClr val="F4F6FA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58952" y="2167128"/>
            <a:ext cx="457200" cy="457200"/>
          </a:xfrm>
          <a:prstGeom prst="ellipse">
            <a:avLst/>
          </a:prstGeom>
          <a:solidFill>
            <a:srgbClr val="2E747A"/>
          </a:solidFill>
          <a:ln/>
        </p:spPr>
      </p:sp>
      <p:sp>
        <p:nvSpPr>
          <p:cNvPr id="8" name="Text 6"/>
          <p:cNvSpPr/>
          <p:nvPr/>
        </p:nvSpPr>
        <p:spPr>
          <a:xfrm>
            <a:off x="758952" y="21671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71600" y="2112264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74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機會分散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371600" y="2532888"/>
            <a:ext cx="4434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C455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越南醫院市場可拆成 85 門能獨立談的生意，其中 40 門在越南幾乎還沒人做。機會不缺，缺的是排序。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172200" y="1874520"/>
            <a:ext cx="5468112" cy="1627632"/>
          </a:xfrm>
          <a:prstGeom prst="roundRect">
            <a:avLst>
              <a:gd name="adj" fmla="val 3371"/>
            </a:avLst>
          </a:prstGeom>
          <a:solidFill>
            <a:srgbClr val="F4F6FA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28232" y="2167128"/>
            <a:ext cx="457200" cy="45720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3" name="Text 11"/>
          <p:cNvSpPr/>
          <p:nvPr/>
        </p:nvSpPr>
        <p:spPr>
          <a:xfrm>
            <a:off x="6428232" y="21671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040880" y="2112264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性質不同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040880" y="2532888"/>
            <a:ext cx="4434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C455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CT 影像有健保給付碼、機房沒有收入、HIS 被法規逼著上卻沒有付款來源——用同一套標準比較必然失真。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02920" y="3657600"/>
            <a:ext cx="5468112" cy="1627632"/>
          </a:xfrm>
          <a:prstGeom prst="roundRect">
            <a:avLst>
              <a:gd name="adj" fmla="val 3371"/>
            </a:avLst>
          </a:prstGeom>
          <a:solidFill>
            <a:srgbClr val="F4F6FA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58952" y="3950208"/>
            <a:ext cx="457200" cy="457200"/>
          </a:xfrm>
          <a:prstGeom prst="ellipse">
            <a:avLst/>
          </a:prstGeom>
          <a:solidFill>
            <a:srgbClr val="BF8F00"/>
          </a:solidFill>
          <a:ln/>
        </p:spPr>
      </p:sp>
      <p:sp>
        <p:nvSpPr>
          <p:cNvPr id="18" name="Text 16"/>
          <p:cNvSpPr/>
          <p:nvPr/>
        </p:nvSpPr>
        <p:spPr>
          <a:xfrm>
            <a:off x="758952" y="39502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371600" y="3895344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F8F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資訊不對稱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371600" y="4315968"/>
            <a:ext cx="4434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C455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越南的稅務優惠、健保結算延遲、電價歸類、進項 VAT 不可扣抵——不熟的人會系統性低估成本。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172200" y="3657600"/>
            <a:ext cx="5468112" cy="1627632"/>
          </a:xfrm>
          <a:prstGeom prst="roundRect">
            <a:avLst>
              <a:gd name="adj" fmla="val 3371"/>
            </a:avLst>
          </a:prstGeom>
          <a:solidFill>
            <a:srgbClr val="F4F6FA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28232" y="3950208"/>
            <a:ext cx="457200" cy="457200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23" name="Text 21"/>
          <p:cNvSpPr/>
          <p:nvPr/>
        </p:nvSpPr>
        <p:spPr>
          <a:xfrm>
            <a:off x="6428232" y="39502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040880" y="3895344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決策要留痕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040880" y="4315968"/>
            <a:ext cx="4434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C455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聯盟有多方參與，每一個「為什麼做／不做」都必須有可追溯的依據，不能靠會議上誰講話大聲。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502920" y="5413248"/>
            <a:ext cx="11155680" cy="1005840"/>
          </a:xfrm>
          <a:prstGeom prst="roundRect">
            <a:avLst>
              <a:gd name="adj" fmla="val 5455"/>
            </a:avLst>
          </a:prstGeom>
          <a:solidFill>
            <a:srgbClr val="DCE6F4"/>
          </a:solidFill>
          <a:ln w="12700">
            <a:solidFill>
              <a:srgbClr val="DCE6F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77240" y="5504688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3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所以我們做的不是一份簡報，是一套「判準」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77240" y="5907024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C455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六份可交付的檔案，每一份回答一個明確的問題，而且所有判斷都能追回到資料與出處。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329184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2E74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THE DELIVERABLES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02920" y="603504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223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六份檔案，各回答一個問題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02920" y="1207008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序號就是使用順序。全部 v1.0，資料源只有一個。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1874520"/>
            <a:ext cx="3584448" cy="1965960"/>
          </a:xfrm>
          <a:prstGeom prst="roundRect">
            <a:avLst>
              <a:gd name="adj" fmla="val 2791"/>
            </a:avLst>
          </a:prstGeom>
          <a:solidFill>
            <a:srgbClr val="DCE6F4"/>
          </a:solidFill>
          <a:ln w="12700">
            <a:solidFill>
              <a:srgbClr val="DCE6F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22376" y="2093976"/>
            <a:ext cx="475488" cy="475488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8" name="Text 6"/>
          <p:cNvSpPr/>
          <p:nvPr/>
        </p:nvSpPr>
        <p:spPr>
          <a:xfrm>
            <a:off x="722376" y="209397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344168" y="2075688"/>
            <a:ext cx="2606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23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主工具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1344168" y="2404872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越南醫院生態盤點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22376" y="2834640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C455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做不做 · 誰做 · 何時做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C455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21 分頁｜60 能力｜85 商機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288536" y="1874520"/>
            <a:ext cx="3584448" cy="1965960"/>
          </a:xfrm>
          <a:prstGeom prst="roundRect">
            <a:avLst>
              <a:gd name="adj" fmla="val 2791"/>
            </a:avLst>
          </a:prstGeom>
          <a:solidFill>
            <a:srgbClr val="FFF2CC"/>
          </a:solidFill>
          <a:ln w="12700">
            <a:solidFill>
              <a:srgbClr val="FFF2C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07992" y="2093976"/>
            <a:ext cx="475488" cy="475488"/>
          </a:xfrm>
          <a:prstGeom prst="ellipse">
            <a:avLst/>
          </a:prstGeom>
          <a:solidFill>
            <a:srgbClr val="BF8F00"/>
          </a:solidFill>
          <a:ln/>
        </p:spPr>
      </p:sp>
      <p:sp>
        <p:nvSpPr>
          <p:cNvPr id="14" name="Text 12"/>
          <p:cNvSpPr/>
          <p:nvPr/>
        </p:nvSpPr>
        <p:spPr>
          <a:xfrm>
            <a:off x="4507992" y="209397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5129784" y="2075688"/>
            <a:ext cx="2606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23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專案商模試算器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5129784" y="2404872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F8F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單一子專案划不划算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07992" y="2834640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C455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13 分頁｜先選投資類別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C455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三幣別｜BOQ 級成本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074152" y="1874520"/>
            <a:ext cx="3584448" cy="1965960"/>
          </a:xfrm>
          <a:prstGeom prst="roundRect">
            <a:avLst>
              <a:gd name="adj" fmla="val 2791"/>
            </a:avLst>
          </a:prstGeom>
          <a:solidFill>
            <a:srgbClr val="D9EDEF"/>
          </a:solidFill>
          <a:ln w="12700">
            <a:solidFill>
              <a:srgbClr val="D9EDE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293608" y="2093976"/>
            <a:ext cx="475488" cy="475488"/>
          </a:xfrm>
          <a:prstGeom prst="ellipse">
            <a:avLst/>
          </a:prstGeom>
          <a:solidFill>
            <a:srgbClr val="2E747A"/>
          </a:solidFill>
          <a:ln/>
        </p:spPr>
      </p:sp>
      <p:sp>
        <p:nvSpPr>
          <p:cNvPr id="20" name="Text 18"/>
          <p:cNvSpPr/>
          <p:nvPr/>
        </p:nvSpPr>
        <p:spPr>
          <a:xfrm>
            <a:off x="8293608" y="209397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8915400" y="2075688"/>
            <a:ext cx="2606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23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夥伴提案回覆表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8915400" y="2404872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4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候選夥伴有沒有能力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293608" y="2834640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C455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發 RFI 時附上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C455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回收後填進 04 夥伴拼圖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02920" y="4023360"/>
            <a:ext cx="3584448" cy="1965960"/>
          </a:xfrm>
          <a:prstGeom prst="roundRect">
            <a:avLst>
              <a:gd name="adj" fmla="val 2791"/>
            </a:avLst>
          </a:prstGeom>
          <a:solidFill>
            <a:srgbClr val="EDEFF3"/>
          </a:solidFill>
          <a:ln w="12700">
            <a:solidFill>
              <a:srgbClr val="EDEFF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22376" y="4242816"/>
            <a:ext cx="475488" cy="475488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26" name="Text 24"/>
          <p:cNvSpPr/>
          <p:nvPr/>
        </p:nvSpPr>
        <p:spPr>
          <a:xfrm>
            <a:off x="722376" y="424281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1344168" y="4224528"/>
            <a:ext cx="2606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23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使用手冊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1344168" y="4553712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每一頁怎麼看怎麼填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22376" y="4983480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C455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逐頁說明定義與公式邏輯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C455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新人接手直接看它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288536" y="4023360"/>
            <a:ext cx="3584448" cy="1965960"/>
          </a:xfrm>
          <a:prstGeom prst="roundRect">
            <a:avLst>
              <a:gd name="adj" fmla="val 2791"/>
            </a:avLst>
          </a:prstGeom>
          <a:solidFill>
            <a:srgbClr val="DCEBD0"/>
          </a:solidFill>
          <a:ln w="12700">
            <a:solidFill>
              <a:srgbClr val="DCEBD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507992" y="4242816"/>
            <a:ext cx="475488" cy="475488"/>
          </a:xfrm>
          <a:prstGeom prst="ellipse">
            <a:avLst/>
          </a:prstGeom>
          <a:solidFill>
            <a:srgbClr val="548235"/>
          </a:solidFill>
          <a:ln/>
        </p:spPr>
      </p:sp>
      <p:sp>
        <p:nvSpPr>
          <p:cNvPr id="32" name="Text 30"/>
          <p:cNvSpPr/>
          <p:nvPr/>
        </p:nvSpPr>
        <p:spPr>
          <a:xfrm>
            <a:off x="4507992" y="424281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</a:t>
            </a:r>
            <a:endParaRPr lang="en-US" sz="1700" dirty="0"/>
          </a:p>
        </p:txBody>
      </p:sp>
      <p:sp>
        <p:nvSpPr>
          <p:cNvPr id="33" name="Text 31"/>
          <p:cNvSpPr/>
          <p:nvPr/>
        </p:nvSpPr>
        <p:spPr>
          <a:xfrm>
            <a:off x="5129784" y="4224528"/>
            <a:ext cx="2606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23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聯盟夥伴說明會</a:t>
            </a:r>
            <a:endParaRPr lang="en-US" sz="1450" dirty="0"/>
          </a:p>
        </p:txBody>
      </p:sp>
      <p:sp>
        <p:nvSpPr>
          <p:cNvPr id="34" name="Text 32"/>
          <p:cNvSpPr/>
          <p:nvPr/>
        </p:nvSpPr>
        <p:spPr>
          <a:xfrm>
            <a:off x="5129784" y="4553712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48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對外招募與說明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507992" y="4983480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C455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38 頁簡報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C455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含方法論附錄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8074152" y="4023360"/>
            <a:ext cx="3584448" cy="1965960"/>
          </a:xfrm>
          <a:prstGeom prst="roundRect">
            <a:avLst>
              <a:gd name="adj" fmla="val 2791"/>
            </a:avLst>
          </a:prstGeom>
          <a:solidFill>
            <a:srgbClr val="E9E1F4"/>
          </a:solidFill>
          <a:ln w="12700">
            <a:solidFill>
              <a:srgbClr val="E9E1F4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293608" y="4242816"/>
            <a:ext cx="475488" cy="475488"/>
          </a:xfrm>
          <a:prstGeom prst="ellipse">
            <a:avLst/>
          </a:prstGeom>
          <a:solidFill>
            <a:srgbClr val="6B3FA0"/>
          </a:solidFill>
          <a:ln/>
        </p:spPr>
      </p:sp>
      <p:sp>
        <p:nvSpPr>
          <p:cNvPr id="38" name="Text 36"/>
          <p:cNvSpPr/>
          <p:nvPr/>
        </p:nvSpPr>
        <p:spPr>
          <a:xfrm>
            <a:off x="8293608" y="424281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</a:t>
            </a:r>
            <a:endParaRPr lang="en-US" sz="1700" dirty="0"/>
          </a:p>
        </p:txBody>
      </p:sp>
      <p:sp>
        <p:nvSpPr>
          <p:cNvPr id="39" name="Text 37"/>
          <p:cNvSpPr/>
          <p:nvPr/>
        </p:nvSpPr>
        <p:spPr>
          <a:xfrm>
            <a:off x="8915400" y="4224528"/>
            <a:ext cx="2606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23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重建與維護 SOP</a:t>
            </a:r>
            <a:endParaRPr lang="en-US" sz="1450" dirty="0"/>
          </a:p>
        </p:txBody>
      </p:sp>
      <p:sp>
        <p:nvSpPr>
          <p:cNvPr id="40" name="Text 38"/>
          <p:cNvSpPr/>
          <p:nvPr/>
        </p:nvSpPr>
        <p:spPr>
          <a:xfrm>
            <a:off x="8915400" y="4553712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3FA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工具本身怎麼維護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8293608" y="4983480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C455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腳本地圖｜四步重建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C455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九條地雷｜驗證清單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02920" y="605332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另有兩張一頁式懶人包（業主用、試算器用）與一張分頁關聯圖。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329184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2E74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THE DECISION CHAIN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02920" y="603504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223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從市場機會到投資決策，中間有五道關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02920" y="1207008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每一道關都有對應的分頁與判準，任何一案都能回溯它是怎麼被推進或擋下的。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1965960"/>
            <a:ext cx="2121408" cy="2834640"/>
          </a:xfrm>
          <a:prstGeom prst="roundRect">
            <a:avLst>
              <a:gd name="adj" fmla="val 2586"/>
            </a:avLst>
          </a:prstGeom>
          <a:solidFill>
            <a:srgbClr val="F4F6FA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353312" y="2176272"/>
            <a:ext cx="420624" cy="420624"/>
          </a:xfrm>
          <a:prstGeom prst="ellipse">
            <a:avLst/>
          </a:prstGeom>
          <a:solidFill>
            <a:srgbClr val="2E747A"/>
          </a:solidFill>
          <a:ln/>
        </p:spPr>
      </p:sp>
      <p:sp>
        <p:nvSpPr>
          <p:cNvPr id="8" name="Text 6"/>
          <p:cNvSpPr/>
          <p:nvPr/>
        </p:nvSpPr>
        <p:spPr>
          <a:xfrm>
            <a:off x="1353312" y="21762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2724912"/>
            <a:ext cx="1847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E74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市場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40080" y="3182112"/>
            <a:ext cx="18470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3C455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85 門生意拆解</a:t>
            </a:r>
            <a:endParaRPr lang="en-US" sz="11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3C455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③尚未出現 40 門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40080" y="4160520"/>
            <a:ext cx="1847088" cy="457200"/>
          </a:xfrm>
          <a:prstGeom prst="roundRect">
            <a:avLst>
              <a:gd name="adj" fmla="val 16000"/>
            </a:avLst>
          </a:prstGeom>
          <a:solidFill>
            <a:srgbClr val="2E747A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4160520"/>
            <a:ext cx="1847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15 商機字典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642616" y="3200400"/>
            <a:ext cx="182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8B0B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▶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807208" y="1965960"/>
            <a:ext cx="2121408" cy="2834640"/>
          </a:xfrm>
          <a:prstGeom prst="roundRect">
            <a:avLst>
              <a:gd name="adj" fmla="val 2586"/>
            </a:avLst>
          </a:prstGeom>
          <a:solidFill>
            <a:srgbClr val="F4F6FA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0" y="2176272"/>
            <a:ext cx="420624" cy="420624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16" name="Text 14"/>
          <p:cNvSpPr/>
          <p:nvPr/>
        </p:nvSpPr>
        <p:spPr>
          <a:xfrm>
            <a:off x="3657600" y="21762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944368" y="2724912"/>
            <a:ext cx="1847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386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能力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2944368" y="3182112"/>
            <a:ext cx="18470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3C455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我們有沒有本事接</a:t>
            </a:r>
            <a:endParaRPr lang="en-US" sz="11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3C455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60 項能力盤點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2944368" y="4160520"/>
            <a:ext cx="1847088" cy="457200"/>
          </a:xfrm>
          <a:prstGeom prst="roundRect">
            <a:avLst>
              <a:gd name="adj" fmla="val 16000"/>
            </a:avLst>
          </a:prstGeom>
          <a:solidFill>
            <a:srgbClr val="1F3864"/>
          </a:solidFill>
          <a:ln/>
        </p:spPr>
      </p:sp>
      <p:sp>
        <p:nvSpPr>
          <p:cNvPr id="20" name="Text 18"/>
          <p:cNvSpPr/>
          <p:nvPr/>
        </p:nvSpPr>
        <p:spPr>
          <a:xfrm>
            <a:off x="2944368" y="4160520"/>
            <a:ext cx="1847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03 能力總表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946904" y="3200400"/>
            <a:ext cx="182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8B0B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▶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111496" y="1965960"/>
            <a:ext cx="2121408" cy="2834640"/>
          </a:xfrm>
          <a:prstGeom prst="roundRect">
            <a:avLst>
              <a:gd name="adj" fmla="val 2586"/>
            </a:avLst>
          </a:prstGeom>
          <a:solidFill>
            <a:srgbClr val="F4F6FA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61888" y="2176272"/>
            <a:ext cx="420624" cy="420624"/>
          </a:xfrm>
          <a:prstGeom prst="ellipse">
            <a:avLst/>
          </a:prstGeom>
          <a:solidFill>
            <a:srgbClr val="BF8F00"/>
          </a:solidFill>
          <a:ln/>
        </p:spPr>
      </p:sp>
      <p:sp>
        <p:nvSpPr>
          <p:cNvPr id="24" name="Text 22"/>
          <p:cNvSpPr/>
          <p:nvPr/>
        </p:nvSpPr>
        <p:spPr>
          <a:xfrm>
            <a:off x="5961888" y="21762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248656" y="2724912"/>
            <a:ext cx="1847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F8F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商機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5248656" y="3182112"/>
            <a:ext cx="18470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3C455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能力×商機多對多</a:t>
            </a:r>
            <a:endParaRPr lang="en-US" sz="11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3C455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攻擊順位自動排序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248656" y="4160520"/>
            <a:ext cx="1847088" cy="457200"/>
          </a:xfrm>
          <a:prstGeom prst="roundRect">
            <a:avLst>
              <a:gd name="adj" fmla="val 16000"/>
            </a:avLst>
          </a:prstGeom>
          <a:solidFill>
            <a:srgbClr val="BF8F00"/>
          </a:solidFill>
          <a:ln/>
        </p:spPr>
      </p:sp>
      <p:sp>
        <p:nvSpPr>
          <p:cNvPr id="28" name="Text 26"/>
          <p:cNvSpPr/>
          <p:nvPr/>
        </p:nvSpPr>
        <p:spPr>
          <a:xfrm>
            <a:off x="5248656" y="4160520"/>
            <a:ext cx="1847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16 矩陣｜17 作戰卡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251192" y="3200400"/>
            <a:ext cx="182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8B0B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▶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7415784" y="1965960"/>
            <a:ext cx="2121408" cy="2834640"/>
          </a:xfrm>
          <a:prstGeom prst="roundRect">
            <a:avLst>
              <a:gd name="adj" fmla="val 2586"/>
            </a:avLst>
          </a:prstGeom>
          <a:solidFill>
            <a:srgbClr val="F4F6FA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266176" y="2176272"/>
            <a:ext cx="420624" cy="420624"/>
          </a:xfrm>
          <a:prstGeom prst="ellipse">
            <a:avLst/>
          </a:prstGeom>
          <a:solidFill>
            <a:srgbClr val="548235"/>
          </a:solidFill>
          <a:ln/>
        </p:spPr>
      </p:sp>
      <p:sp>
        <p:nvSpPr>
          <p:cNvPr id="32" name="Text 30"/>
          <p:cNvSpPr/>
          <p:nvPr/>
        </p:nvSpPr>
        <p:spPr>
          <a:xfrm>
            <a:off x="8266176" y="21762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7552944" y="2724912"/>
            <a:ext cx="1847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48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專案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7552944" y="3182112"/>
            <a:ext cx="18470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3C455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選定一案算錢</a:t>
            </a:r>
            <a:endParaRPr lang="en-US" sz="11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3C455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先選投資類別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7552944" y="4160520"/>
            <a:ext cx="1847088" cy="457200"/>
          </a:xfrm>
          <a:prstGeom prst="roundRect">
            <a:avLst>
              <a:gd name="adj" fmla="val 16000"/>
            </a:avLst>
          </a:prstGeom>
          <a:solidFill>
            <a:srgbClr val="548235"/>
          </a:solidFill>
          <a:ln/>
        </p:spPr>
      </p:sp>
      <p:sp>
        <p:nvSpPr>
          <p:cNvPr id="36" name="Text 34"/>
          <p:cNvSpPr/>
          <p:nvPr/>
        </p:nvSpPr>
        <p:spPr>
          <a:xfrm>
            <a:off x="7552944" y="4160520"/>
            <a:ext cx="1847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VMH-2 試算器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9555480" y="3200400"/>
            <a:ext cx="182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8B0B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▶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9720072" y="1965960"/>
            <a:ext cx="2121408" cy="2834640"/>
          </a:xfrm>
          <a:prstGeom prst="roundRect">
            <a:avLst>
              <a:gd name="adj" fmla="val 2586"/>
            </a:avLst>
          </a:prstGeom>
          <a:solidFill>
            <a:srgbClr val="F4F6FA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0570464" y="2176272"/>
            <a:ext cx="420624" cy="420624"/>
          </a:xfrm>
          <a:prstGeom prst="ellipse">
            <a:avLst/>
          </a:prstGeom>
          <a:solidFill>
            <a:srgbClr val="6B3FA0"/>
          </a:solidFill>
          <a:ln/>
        </p:spPr>
      </p:sp>
      <p:sp>
        <p:nvSpPr>
          <p:cNvPr id="40" name="Text 38"/>
          <p:cNvSpPr/>
          <p:nvPr/>
        </p:nvSpPr>
        <p:spPr>
          <a:xfrm>
            <a:off x="10570464" y="21762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9857232" y="2724912"/>
            <a:ext cx="1847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B3FA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決策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9857232" y="3182112"/>
            <a:ext cx="18470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3C455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送 WP-09 投資決策</a:t>
            </a:r>
            <a:endParaRPr lang="en-US" sz="11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3C455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結論與依據留痕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9857232" y="4160520"/>
            <a:ext cx="1847088" cy="457200"/>
          </a:xfrm>
          <a:prstGeom prst="roundRect">
            <a:avLst>
              <a:gd name="adj" fmla="val 16000"/>
            </a:avLst>
          </a:prstGeom>
          <a:solidFill>
            <a:srgbClr val="6B3FA0"/>
          </a:solidFill>
          <a:ln/>
        </p:spPr>
      </p:sp>
      <p:sp>
        <p:nvSpPr>
          <p:cNvPr id="44" name="Text 42"/>
          <p:cNvSpPr/>
          <p:nvPr/>
        </p:nvSpPr>
        <p:spPr>
          <a:xfrm>
            <a:off x="9857232" y="4160520"/>
            <a:ext cx="1847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 決策紀錄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502920" y="5029200"/>
            <a:ext cx="11155680" cy="1371600"/>
          </a:xfrm>
          <a:prstGeom prst="roundRect">
            <a:avLst>
              <a:gd name="adj" fmla="val 4000"/>
            </a:avLst>
          </a:prstGeom>
          <a:solidFill>
            <a:srgbClr val="FFF2CC"/>
          </a:solidFill>
          <a:ln w="12700">
            <a:solidFill>
              <a:srgbClr val="FFF2C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77240" y="5129784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A68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 4 道關是本簡報的重點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777240" y="5513832"/>
            <a:ext cx="106070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6B4E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前三道是「有沒有機會、我們接不接得住」，判斷相對直觀。第 4 道「這一案划不划算」最容易出錯——因為多數人會直接套 NPV，而不同性質的投資根本不該用同一把尺。接下來三頁就在講這件事。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329184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2E74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THE INVENTORY METHOD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02920" y="603504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223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85 門生意不是列出來的，是三個軸相乘長出來的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02920" y="1207008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先有方法、才有清單——所以清單可以被驗證、被更新、被挑戰。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1783080"/>
            <a:ext cx="3584448" cy="1965960"/>
          </a:xfrm>
          <a:prstGeom prst="roundRect">
            <a:avLst>
              <a:gd name="adj" fmla="val 2791"/>
            </a:avLst>
          </a:prstGeom>
          <a:solidFill>
            <a:srgbClr val="D9EDEF"/>
          </a:solidFill>
          <a:ln w="12700">
            <a:solidFill>
              <a:srgbClr val="D9EDE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93852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74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 軸　能力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2340864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醫院要「會」哪些事？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31520" y="2724912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3C455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 大領域 × 60 項能力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3C455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（D01 治理 … D10 商模）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288536" y="1783080"/>
            <a:ext cx="3584448" cy="1965960"/>
          </a:xfrm>
          <a:prstGeom prst="roundRect">
            <a:avLst>
              <a:gd name="adj" fmla="val 2791"/>
            </a:avLst>
          </a:prstGeom>
          <a:solidFill>
            <a:srgbClr val="DCE6F4"/>
          </a:solidFill>
          <a:ln w="12700">
            <a:solidFill>
              <a:srgbClr val="DCE6F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17136" y="193852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 軸　階段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17136" y="2340864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什麼時候需要它？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517136" y="2724912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3C455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Stage-Gate G0–G6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3C455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60 個月、20 個工作包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074152" y="1783080"/>
            <a:ext cx="3584448" cy="1965960"/>
          </a:xfrm>
          <a:prstGeom prst="roundRect">
            <a:avLst>
              <a:gd name="adj" fmla="val 2791"/>
            </a:avLst>
          </a:prstGeom>
          <a:solidFill>
            <a:srgbClr val="FFF2CC"/>
          </a:solidFill>
          <a:ln w="12700">
            <a:solidFill>
              <a:srgbClr val="FFF2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02752" y="193852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F8F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 軸　法規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302752" y="2340864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做到什麼程度才合格？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8302752" y="2724912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3C455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37 條門檻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3C455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（越南強制 11＋國際標準 26）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02920" y="3977640"/>
            <a:ext cx="11155680" cy="1051560"/>
          </a:xfrm>
          <a:prstGeom prst="roundRect">
            <a:avLst>
              <a:gd name="adj" fmla="val 5217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" y="4087368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b="1" dirty="0">
                <a:solidFill>
                  <a:srgbClr val="1223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三軸交會的每一格＝一門可以獨立談的生意。</a:t>
            </a:r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3C455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85 門商機 × 60 項能力的對應關係寫成 16 矩陣（171 個 ✓）；每門生意的攻擊順位由「價值分（政府 35%＋臨床 30%＋商業 35%）×準備度－缺口懲罰」自動算出，人不排序、公式排序。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02920" y="5230368"/>
            <a:ext cx="11155680" cy="868680"/>
          </a:xfrm>
          <a:prstGeom prst="roundRect">
            <a:avLst>
              <a:gd name="adj" fmla="val 6316"/>
            </a:avLst>
          </a:prstGeom>
          <a:solidFill>
            <a:srgbClr val="FFF2CC"/>
          </a:solidFill>
          <a:ln w="12700">
            <a:solidFill>
              <a:srgbClr val="FFF2C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5340096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7F5F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方法論意義：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C470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因為清單是「長」出來的，所以有兩個可貴的副產品——白地商機（市場還沒人做、公式給 0 分的格子）會自己浮現而不是被忽略；能力地圖上「有生意、沒能力」的結構缺口（例如 L5 智慧應用層）也藏不住。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329184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2E74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THE STACK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02920" y="603504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223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第二個分類軸：醫院生態的七層堆疊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02920" y="1207008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族群分類（A–J）回答「這是哪一行」；層級分類回答「它站在誰上面、誰站在它上面」。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1719072"/>
            <a:ext cx="841248" cy="457200"/>
          </a:xfrm>
          <a:prstGeom prst="roundRect">
            <a:avLst>
              <a:gd name="adj" fmla="val 10000"/>
            </a:avLst>
          </a:prstGeom>
          <a:solidFill>
            <a:srgbClr val="8A2E4A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719072"/>
            <a:ext cx="841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L7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463040" y="1719072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23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商模金流層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063240" y="1719072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C455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支付、健保、保險、國際醫療、投資架構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2253996"/>
            <a:ext cx="841248" cy="457200"/>
          </a:xfrm>
          <a:prstGeom prst="roundRect">
            <a:avLst>
              <a:gd name="adj" fmla="val 10000"/>
            </a:avLst>
          </a:prstGeom>
          <a:solidFill>
            <a:srgbClr val="4E6E52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2253996"/>
            <a:ext cx="841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L6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463040" y="2253996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23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照護營運層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063240" y="2253996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C455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照護業態、供應鏈維運、品質與人才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2920" y="2788920"/>
            <a:ext cx="841248" cy="457200"/>
          </a:xfrm>
          <a:prstGeom prst="roundRect">
            <a:avLst>
              <a:gd name="adj" fmla="val 10000"/>
            </a:avLst>
          </a:prstGeom>
          <a:solidFill>
            <a:srgbClr val="B0632E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" y="2788920"/>
            <a:ext cx="841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L5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463040" y="27889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23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智慧應用層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3063240" y="278892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C455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診斷、預測、自動化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02920" y="3323844"/>
            <a:ext cx="841248" cy="457200"/>
          </a:xfrm>
          <a:prstGeom prst="roundRect">
            <a:avLst>
              <a:gd name="adj" fmla="val 10000"/>
            </a:avLst>
          </a:prstGeom>
          <a:solidFill>
            <a:srgbClr val="2E7D64"/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" y="3323844"/>
            <a:ext cx="841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L4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463040" y="3323844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23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資料平台層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3063240" y="3323844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C455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HIS/EMR、PACS、互通、資料中台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02920" y="3858768"/>
            <a:ext cx="841248" cy="457200"/>
          </a:xfrm>
          <a:prstGeom prst="roundRect">
            <a:avLst>
              <a:gd name="adj" fmla="val 10000"/>
            </a:avLst>
          </a:prstGeom>
          <a:solidFill>
            <a:srgbClr val="7A4E8A"/>
          </a:solidFill>
          <a:ln/>
        </p:spPr>
      </p:sp>
      <p:sp>
        <p:nvSpPr>
          <p:cNvPr id="23" name="Text 21"/>
          <p:cNvSpPr/>
          <p:nvPr/>
        </p:nvSpPr>
        <p:spPr>
          <a:xfrm>
            <a:off x="502920" y="3858768"/>
            <a:ext cx="841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L3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463040" y="3858768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23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臨床設備層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3063240" y="385876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C455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影像、檢驗、手術室、洗腎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02920" y="4393692"/>
            <a:ext cx="841248" cy="457200"/>
          </a:xfrm>
          <a:prstGeom prst="roundRect">
            <a:avLst>
              <a:gd name="adj" fmla="val 10000"/>
            </a:avLst>
          </a:prstGeom>
          <a:solidFill>
            <a:srgbClr val="2C5F8A"/>
          </a:solidFill>
          <a:ln/>
        </p:spPr>
      </p:sp>
      <p:sp>
        <p:nvSpPr>
          <p:cNvPr id="27" name="Text 25"/>
          <p:cNvSpPr/>
          <p:nvPr/>
        </p:nvSpPr>
        <p:spPr>
          <a:xfrm>
            <a:off x="502920" y="4393692"/>
            <a:ext cx="841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L2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463040" y="4393692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23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數位基礎層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3063240" y="4393692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C455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機房 IDC、網路、資安、備援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02920" y="4928616"/>
            <a:ext cx="841248" cy="457200"/>
          </a:xfrm>
          <a:prstGeom prst="roundRect">
            <a:avLst>
              <a:gd name="adj" fmla="val 10000"/>
            </a:avLst>
          </a:prstGeom>
          <a:solidFill>
            <a:srgbClr val="8C6D46"/>
          </a:solidFill>
          <a:ln/>
        </p:spPr>
      </p:sp>
      <p:sp>
        <p:nvSpPr>
          <p:cNvPr id="31" name="Text 29"/>
          <p:cNvSpPr/>
          <p:nvPr/>
        </p:nvSpPr>
        <p:spPr>
          <a:xfrm>
            <a:off x="502920" y="4928616"/>
            <a:ext cx="841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L1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463040" y="4928616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23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實體基礎層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3063240" y="4928616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C455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土建、機電、潔淨、醫氣、電力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02920" y="5463540"/>
            <a:ext cx="841248" cy="457200"/>
          </a:xfrm>
          <a:prstGeom prst="roundRect">
            <a:avLst>
              <a:gd name="adj" fmla="val 10000"/>
            </a:avLst>
          </a:prstGeom>
          <a:solidFill>
            <a:srgbClr val="555F6E"/>
          </a:solidFill>
          <a:ln/>
        </p:spPr>
      </p:sp>
      <p:sp>
        <p:nvSpPr>
          <p:cNvPr id="35" name="Text 33"/>
          <p:cNvSpPr/>
          <p:nvPr/>
        </p:nvSpPr>
        <p:spPr>
          <a:xfrm>
            <a:off x="502920" y="5463540"/>
            <a:ext cx="841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1463040" y="54635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23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治理合規層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3063240" y="546354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C455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法規、登記、個資、認證——貫穿全部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7498080" y="1719072"/>
            <a:ext cx="4160520" cy="2834640"/>
          </a:xfrm>
          <a:prstGeom prst="roundRect">
            <a:avLst>
              <a:gd name="adj" fmla="val 1935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726680" y="1847088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3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為什麼要分層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7726680" y="2194560"/>
            <a:ext cx="37490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3C455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・夥伴找定位：你的專長在哪層，那層有哪些生意、上下層要靠誰</a:t>
            </a:r>
            <a:endParaRPr lang="en-US" sz="11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3C455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・法規對時鐘：越南的法規本身就是一層一層生效的，每層有自己的進場時機</a:t>
            </a:r>
            <a:endParaRPr lang="en-US" sz="11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3C455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・投資看依賴：L5 的生意沒有 L2＋L4 就落不了地——先後順序不是偏好，是結構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7498080" y="4681728"/>
            <a:ext cx="4160520" cy="1371600"/>
          </a:xfrm>
          <a:prstGeom prst="roundRect">
            <a:avLst>
              <a:gd name="adj" fmla="val 4000"/>
            </a:avLst>
          </a:prstGeom>
          <a:solidFill>
            <a:srgbClr val="FBE6E2"/>
          </a:solidFill>
          <a:ln w="12700">
            <a:solidFill>
              <a:srgbClr val="FBE6E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726680" y="4791456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★ 分層立刻照出的結構缺口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7726680" y="5102352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8C2B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L5 智慧應用層有 14 門生意、卻是 0 項能力——不是市場沒需求，是能力地圖還沒有格子。這是分層方法自己挖出來的發現。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329184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2E74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THE INTELLIGENCE METHOD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02920" y="603504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223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市場情報的三條紀律：三時態、附出處、標信心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02920" y="1207008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2026-08-15 完成整輪查證：85 門生意與 60 項能力全部有「過去→現在→未來」。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1783080"/>
            <a:ext cx="11155680" cy="1261872"/>
          </a:xfrm>
          <a:prstGeom prst="roundRect">
            <a:avLst>
              <a:gd name="adj" fmla="val 4348"/>
            </a:avLst>
          </a:prstGeom>
          <a:solidFill>
            <a:srgbClr val="D9EDEF"/>
          </a:solidFill>
          <a:ln w="12700">
            <a:solidFill>
              <a:srgbClr val="D9EDE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2148840"/>
            <a:ext cx="1371600" cy="512064"/>
          </a:xfrm>
          <a:prstGeom prst="roundRect">
            <a:avLst>
              <a:gd name="adj" fmla="val 16071"/>
            </a:avLst>
          </a:prstGeom>
          <a:solidFill>
            <a:srgbClr val="2E747A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148840"/>
            <a:ext cx="1371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三時態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331720" y="1892808"/>
            <a:ext cx="914400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3C455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每門生意都寫滿三格：過去（2015–22 怎麼走到今天）、現在（2023–26 法規與市場實況）、未來（2026–30 已定案的時程）。只看「現在」會誤判——電子處方 2024 年看是自願、2025 年 10 月起是強制。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02920" y="3172968"/>
            <a:ext cx="11155680" cy="1261872"/>
          </a:xfrm>
          <a:prstGeom prst="roundRect">
            <a:avLst>
              <a:gd name="adj" fmla="val 4348"/>
            </a:avLst>
          </a:prstGeom>
          <a:solidFill>
            <a:srgbClr val="DCE6F4"/>
          </a:solidFill>
          <a:ln w="12700">
            <a:solidFill>
              <a:srgbClr val="DCE6F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0" y="3538728"/>
            <a:ext cx="1371600" cy="512064"/>
          </a:xfrm>
          <a:prstGeom prst="roundRect">
            <a:avLst>
              <a:gd name="adj" fmla="val 16071"/>
            </a:avLst>
          </a:prstGeom>
          <a:solidFill>
            <a:srgbClr val="1F3864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3538728"/>
            <a:ext cx="1371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附出處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331720" y="3282696"/>
            <a:ext cx="914400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3C455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45 條來源全部附網址、優先官方文件（政府公報、衛生部、世銀、美國商務部）。估計值與統計值分開標示——「出境就醫 20 億美元」是衛生部估計，引用時必須註明，否則會被投資方挑戰。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02920" y="4562856"/>
            <a:ext cx="11155680" cy="1261872"/>
          </a:xfrm>
          <a:prstGeom prst="roundRect">
            <a:avLst>
              <a:gd name="adj" fmla="val 4348"/>
            </a:avLst>
          </a:prstGeom>
          <a:solidFill>
            <a:srgbClr val="FFF2CC"/>
          </a:solidFill>
          <a:ln w="12700">
            <a:solidFill>
              <a:srgbClr val="FFF2C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1520" y="4928616"/>
            <a:ext cx="1371600" cy="512064"/>
          </a:xfrm>
          <a:prstGeom prst="roundRect">
            <a:avLst>
              <a:gd name="adj" fmla="val 16071"/>
            </a:avLst>
          </a:prstGeom>
          <a:solidFill>
            <a:srgbClr val="BF8F00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4928616"/>
            <a:ext cx="1371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標信心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331720" y="4672584"/>
            <a:ext cx="914400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3C455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每筆發現標 A／B／C：A＝有具名來源可查證、B＝承襲家族趨勢（本項無專屬數據）、C＝明確查不到。C 不是缺陷——「SPD 委外在越南沒有公開統計」本身就是「早期市場、要自建情報」的證據。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02920" y="6035040"/>
            <a:ext cx="11155680" cy="457200"/>
          </a:xfrm>
          <a:prstGeom prst="roundRect">
            <a:avLst>
              <a:gd name="adj" fmla="val 12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" y="603504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223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這些情報不是放在報告裡讓人翻——它們內嵌在工具中：能力總表與商機字典的每一列旁邊就是該項的深研提示與信心等級。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9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329184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2E74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FROM MAP TO DEAL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02920" y="603504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223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篩完之後怎麼打：五階段爭取方法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02920" y="1207008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盤點工具負責「選哪門生意」；接下來的問題是「在某家醫院把它拿下來」——這也有方法，不靠運氣。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1737360"/>
            <a:ext cx="11155680" cy="786384"/>
          </a:xfrm>
          <a:prstGeom prst="roundRect">
            <a:avLst>
              <a:gd name="adj" fmla="val 6977"/>
            </a:avLst>
          </a:prstGeom>
          <a:solidFill>
            <a:srgbClr val="F4F6FA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920240"/>
            <a:ext cx="868680" cy="420624"/>
          </a:xfrm>
          <a:prstGeom prst="roundRect">
            <a:avLst>
              <a:gd name="adj" fmla="val 17391"/>
            </a:avLst>
          </a:prstGeom>
          <a:solidFill>
            <a:srgbClr val="1F3864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920240"/>
            <a:ext cx="868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P0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783080" y="1737360"/>
            <a:ext cx="14173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23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鎖定目標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3246120" y="1737360"/>
            <a:ext cx="69494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3C455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醫院作戰檔案＋資格審查（10 題快篩，預算或付款 0 分一票否決）＋標案雷達與資格文件庫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0332720" y="1737360"/>
            <a:ext cx="11430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48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已有工具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02920" y="2633472"/>
            <a:ext cx="11155680" cy="786384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31520" y="2816352"/>
            <a:ext cx="868680" cy="420624"/>
          </a:xfrm>
          <a:prstGeom prst="roundRect">
            <a:avLst>
              <a:gd name="adj" fmla="val 17391"/>
            </a:avLst>
          </a:prstGeom>
          <a:solidFill>
            <a:srgbClr val="1F3864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2816352"/>
            <a:ext cx="868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P1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783080" y="2633472"/>
            <a:ext cx="14173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23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接觸探索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3246120" y="2633472"/>
            <a:ext cx="69494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3C455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越南語拜訪包＋現勘清單（欄位直通試算器）＋MOU／會議紀錄模板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0332720" y="2633472"/>
            <a:ext cx="11430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規劃中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02920" y="3529584"/>
            <a:ext cx="11155680" cy="786384"/>
          </a:xfrm>
          <a:prstGeom prst="roundRect">
            <a:avLst>
              <a:gd name="adj" fmla="val 6977"/>
            </a:avLst>
          </a:prstGeom>
          <a:solidFill>
            <a:srgbClr val="F4F6FA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31520" y="3712464"/>
            <a:ext cx="868680" cy="420624"/>
          </a:xfrm>
          <a:prstGeom prst="roundRect">
            <a:avLst>
              <a:gd name="adj" fmla="val 17391"/>
            </a:avLst>
          </a:prstGeom>
          <a:solidFill>
            <a:srgbClr val="1F3864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3712464"/>
            <a:ext cx="868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P2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783080" y="3529584"/>
            <a:ext cx="14173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23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提案報價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3246120" y="3529584"/>
            <a:ext cx="69494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3C455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中越提案書（含「依據 Căn cứ」章——把法規時鐘變成論證）＋報價工作簿（越南稅費與保證金內建）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10332720" y="3529584"/>
            <a:ext cx="11430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規劃中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02920" y="4425696"/>
            <a:ext cx="11155680" cy="786384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31520" y="4608576"/>
            <a:ext cx="868680" cy="420624"/>
          </a:xfrm>
          <a:prstGeom prst="roundRect">
            <a:avLst>
              <a:gd name="adj" fmla="val 17391"/>
            </a:avLst>
          </a:prstGeom>
          <a:solidFill>
            <a:srgbClr val="1F3864"/>
          </a:solidFill>
          <a:ln/>
        </p:spPr>
      </p:sp>
      <p:sp>
        <p:nvSpPr>
          <p:cNvPr id="26" name="Text 24"/>
          <p:cNvSpPr/>
          <p:nvPr/>
        </p:nvSpPr>
        <p:spPr>
          <a:xfrm>
            <a:off x="731520" y="4608576"/>
            <a:ext cx="868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P3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783080" y="4425696"/>
            <a:ext cx="14173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23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談判簽約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3246120" y="4425696"/>
            <a:ext cx="69494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3C455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審查閘門（十題否決制）＋合約條款庫＋聯盟分工協議（背對背，用層級模型當分工骨架）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10332720" y="4425696"/>
            <a:ext cx="11430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規劃中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02920" y="5321808"/>
            <a:ext cx="11155680" cy="786384"/>
          </a:xfrm>
          <a:prstGeom prst="roundRect">
            <a:avLst>
              <a:gd name="adj" fmla="val 6977"/>
            </a:avLst>
          </a:prstGeom>
          <a:solidFill>
            <a:srgbClr val="F4F6FA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31520" y="5504688"/>
            <a:ext cx="868680" cy="420624"/>
          </a:xfrm>
          <a:prstGeom prst="roundRect">
            <a:avLst>
              <a:gd name="adj" fmla="val 17391"/>
            </a:avLst>
          </a:prstGeom>
          <a:solidFill>
            <a:srgbClr val="1F3864"/>
          </a:solidFill>
          <a:ln/>
        </p:spPr>
      </p:sp>
      <p:sp>
        <p:nvSpPr>
          <p:cNvPr id="32" name="Text 30"/>
          <p:cNvSpPr/>
          <p:nvPr/>
        </p:nvSpPr>
        <p:spPr>
          <a:xfrm>
            <a:off x="731520" y="5504688"/>
            <a:ext cx="868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P4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1783080" y="5321808"/>
            <a:ext cx="14173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23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交付執行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3246120" y="5321808"/>
            <a:ext cx="69494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3C455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執行計畫＋RACI＋驗收標準庫（掛 QCVN／TCVN——驗收吵架時，引規範的那方贏）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10332720" y="5321808"/>
            <a:ext cx="11430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規劃中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02920" y="6263640"/>
            <a:ext cx="11155680" cy="384048"/>
          </a:xfrm>
          <a:prstGeom prst="roundRect">
            <a:avLst>
              <a:gd name="adj" fmla="val 14286"/>
            </a:avLst>
          </a:prstGeom>
          <a:solidFill>
            <a:srgbClr val="FFF2CC"/>
          </a:solidFill>
          <a:ln w="12700">
            <a:solidFill>
              <a:srgbClr val="FFF2C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77240" y="6281928"/>
            <a:ext cx="10607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4E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方法論的一貫性：財務判準（試算器）在 P2 回來當報價底稿；層級模型在 P3 變成聯盟分工表；情報紀律貫穿全程。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329184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2E74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THE CORE IDEA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02920" y="603504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223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同一座機房，兩種算法，相反的結論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02920" y="1207008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數字沒有造假，是問的問題不同。這是整份簡報最重要的一頁。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1783080"/>
            <a:ext cx="5486400" cy="2514600"/>
          </a:xfrm>
          <a:prstGeom prst="roundRect">
            <a:avLst>
              <a:gd name="adj" fmla="val 2182"/>
            </a:avLst>
          </a:prstGeom>
          <a:solidFill>
            <a:srgbClr val="FBE6E2"/>
          </a:solidFill>
          <a:ln w="12700">
            <a:solidFill>
              <a:srgbClr val="FBE6E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920240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問「它賺多少」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77240" y="2377440"/>
            <a:ext cx="4937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A2A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機房不對外收費，收入端是 0、成本端是全額。用 NPV 算，分子（效益）歸給了建在它上面的其他專案，分母（成本）留在自己身上——結論必然是負的。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77240" y="3493008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039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NPV −1.03 億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777240" y="3913632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039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✕　不建議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172200" y="1783080"/>
            <a:ext cx="5486400" cy="2514600"/>
          </a:xfrm>
          <a:prstGeom prst="roundRect">
            <a:avLst>
              <a:gd name="adj" fmla="val 2182"/>
            </a:avLst>
          </a:prstGeom>
          <a:solidFill>
            <a:srgbClr val="DCEBD0"/>
          </a:solidFill>
          <a:ln w="12700">
            <a:solidFill>
              <a:srgbClr val="DCEBD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46520" y="1920240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48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問「不做的話要多花多少」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446520" y="2377440"/>
            <a:ext cx="4937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2E441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不自建就得向 FPT／Viettel 承租。自建十年總持有成本 1.04 億、外租 1.19 億——差額就是這座機房為公司省下的真實現金。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446520" y="3493008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48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ΔTCO +1,439 萬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6446520" y="3913632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48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○　建議自建　·　4.0 年回收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02920" y="4526280"/>
            <a:ext cx="11155680" cy="1737360"/>
          </a:xfrm>
          <a:prstGeom prst="roundRect">
            <a:avLst>
              <a:gd name="adj" fmla="val 3158"/>
            </a:avLst>
          </a:prstGeom>
          <a:solidFill>
            <a:srgbClr val="DCE6F4"/>
          </a:solidFill>
          <a:ln w="12700">
            <a:solidFill>
              <a:srgbClr val="DCE6F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4626864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223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這不是我們自己的說法——MIT Sloan（Weill &amp; Aral）的實證研究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822960" y="502920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E74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46%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822960" y="5541264"/>
            <a:ext cx="3383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C455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基礎建設佔企業 IT 支出的比重，四類投資之首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480560" y="502920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E74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最難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4480560" y="5541264"/>
            <a:ext cx="3383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C455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原文用語：事前最難做成本正當化（most difficult to cost-justify in advance）的一類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138160" y="502920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E74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55% ／ 37%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8138160" y="5541264"/>
            <a:ext cx="3383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C455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績效前段班 vs 後段班，放在基礎建設的支出比重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11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329184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2E74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SIX CATEGORIES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02920" y="603504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223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六種投資類別，各有各的尺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02920" y="1207008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不是每一類投資都該用 NPV 論斷——這是財務教科書的立場，不是為了讓某個案子好看而發明的說法。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1874520"/>
            <a:ext cx="3584448" cy="1901952"/>
          </a:xfrm>
          <a:prstGeom prst="roundRect">
            <a:avLst>
              <a:gd name="adj" fmla="val 2885"/>
            </a:avLst>
          </a:prstGeom>
          <a:solidFill>
            <a:srgbClr val="DCEBD0"/>
          </a:solidFill>
          <a:ln w="12700">
            <a:solidFill>
              <a:srgbClr val="DCEBD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2039112"/>
            <a:ext cx="2057400" cy="365760"/>
          </a:xfrm>
          <a:prstGeom prst="roundRect">
            <a:avLst>
              <a:gd name="adj" fmla="val 20000"/>
            </a:avLst>
          </a:prstGeom>
          <a:solidFill>
            <a:srgbClr val="548235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2039112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 營收型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85800" y="2459736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C455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自己就能向外部付款者收費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85800" y="2935224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48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NPV／MIRR／PI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85800" y="3337560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例：CT 影像中心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288536" y="1874520"/>
            <a:ext cx="3584448" cy="1901952"/>
          </a:xfrm>
          <a:prstGeom prst="roundRect">
            <a:avLst>
              <a:gd name="adj" fmla="val 2885"/>
            </a:avLst>
          </a:prstGeom>
          <a:solidFill>
            <a:srgbClr val="D9EDEF"/>
          </a:solidFill>
          <a:ln w="12700">
            <a:solidFill>
              <a:srgbClr val="D9EDE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471416" y="2039112"/>
            <a:ext cx="2057400" cy="365760"/>
          </a:xfrm>
          <a:prstGeom prst="roundRect">
            <a:avLst>
              <a:gd name="adj" fmla="val 20000"/>
            </a:avLst>
          </a:prstGeom>
          <a:solidFill>
            <a:srgbClr val="2E747A"/>
          </a:solidFill>
          <a:ln/>
        </p:spPr>
      </p:sp>
      <p:sp>
        <p:nvSpPr>
          <p:cNvPr id="14" name="Text 12"/>
          <p:cNvSpPr/>
          <p:nvPr/>
        </p:nvSpPr>
        <p:spPr>
          <a:xfrm>
            <a:off x="4471416" y="2039112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 使能型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471416" y="2459736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C455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不收費，但別的專案要靠它才能做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471416" y="2935224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4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ΔTCO 現值／單位服務成本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471416" y="3337560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例：IDC 機房、院區網路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074152" y="1874520"/>
            <a:ext cx="3584448" cy="1901952"/>
          </a:xfrm>
          <a:prstGeom prst="roundRect">
            <a:avLst>
              <a:gd name="adj" fmla="val 2885"/>
            </a:avLst>
          </a:prstGeom>
          <a:solidFill>
            <a:srgbClr val="FBE6E2"/>
          </a:solidFill>
          <a:ln w="12700">
            <a:solidFill>
              <a:srgbClr val="FBE6E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257032" y="2039112"/>
            <a:ext cx="2057400" cy="365760"/>
          </a:xfrm>
          <a:prstGeom prst="roundRect">
            <a:avLst>
              <a:gd name="adj" fmla="val 20000"/>
            </a:avLst>
          </a:prstGeom>
          <a:solidFill>
            <a:srgbClr val="C0392B"/>
          </a:solidFill>
          <a:ln/>
        </p:spPr>
      </p:sp>
      <p:sp>
        <p:nvSpPr>
          <p:cNvPr id="20" name="Text 18"/>
          <p:cNvSpPr/>
          <p:nvPr/>
        </p:nvSpPr>
        <p:spPr>
          <a:xfrm>
            <a:off x="8257032" y="2039112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 法規強制型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257032" y="2459736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C455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不做就不能營業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257032" y="2935224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最低合規成本／不做的代價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257032" y="3337560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例：EMR 分級驗收、個資合規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02920" y="3959352"/>
            <a:ext cx="3584448" cy="1901952"/>
          </a:xfrm>
          <a:prstGeom prst="roundRect">
            <a:avLst>
              <a:gd name="adj" fmla="val 2885"/>
            </a:avLst>
          </a:prstGeom>
          <a:solidFill>
            <a:srgbClr val="DCE6F4"/>
          </a:solidFill>
          <a:ln w="12700">
            <a:solidFill>
              <a:srgbClr val="DCE6F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85800" y="4123944"/>
            <a:ext cx="2057400" cy="365760"/>
          </a:xfrm>
          <a:prstGeom prst="roundRect">
            <a:avLst>
              <a:gd name="adj" fmla="val 20000"/>
            </a:avLst>
          </a:prstGeom>
          <a:solidFill>
            <a:srgbClr val="1F3864"/>
          </a:solidFill>
          <a:ln/>
        </p:spPr>
      </p:sp>
      <p:sp>
        <p:nvSpPr>
          <p:cNvPr id="26" name="Text 24"/>
          <p:cNvSpPr/>
          <p:nvPr/>
        </p:nvSpPr>
        <p:spPr>
          <a:xfrm>
            <a:off x="685800" y="4123944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 降本型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85800" y="4544568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C455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收入不變，但某筆既有支出消失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85800" y="5020056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成本節省 NPV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85800" y="5422392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例：無片化省底片、能源優化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288536" y="3959352"/>
            <a:ext cx="3584448" cy="1901952"/>
          </a:xfrm>
          <a:prstGeom prst="roundRect">
            <a:avLst>
              <a:gd name="adj" fmla="val 2885"/>
            </a:avLst>
          </a:prstGeom>
          <a:solidFill>
            <a:srgbClr val="EDEFF3"/>
          </a:solidFill>
          <a:ln w="12700">
            <a:solidFill>
              <a:srgbClr val="EDEFF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471416" y="4123944"/>
            <a:ext cx="2057400" cy="365760"/>
          </a:xfrm>
          <a:prstGeom prst="roundRect">
            <a:avLst>
              <a:gd name="adj" fmla="val 20000"/>
            </a:avLst>
          </a:prstGeom>
          <a:solidFill>
            <a:srgbClr val="6B7280"/>
          </a:solidFill>
          <a:ln/>
        </p:spPr>
      </p:sp>
      <p:sp>
        <p:nvSpPr>
          <p:cNvPr id="32" name="Text 30"/>
          <p:cNvSpPr/>
          <p:nvPr/>
        </p:nvSpPr>
        <p:spPr>
          <a:xfrm>
            <a:off x="4471416" y="4123944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 汰換維持型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4471416" y="4544568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C455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不換就停擺，沒得選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471416" y="5020056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生命週期成本／停機風險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4471416" y="5422392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例：UPS 電池、球管、伺服器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8074152" y="3959352"/>
            <a:ext cx="3584448" cy="1901952"/>
          </a:xfrm>
          <a:prstGeom prst="roundRect">
            <a:avLst>
              <a:gd name="adj" fmla="val 2885"/>
            </a:avLst>
          </a:prstGeom>
          <a:solidFill>
            <a:srgbClr val="FFF2CC"/>
          </a:solidFill>
          <a:ln w="12700">
            <a:solidFill>
              <a:srgbClr val="FFF2C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257032" y="4123944"/>
            <a:ext cx="2057400" cy="365760"/>
          </a:xfrm>
          <a:prstGeom prst="roundRect">
            <a:avLst>
              <a:gd name="adj" fmla="val 20000"/>
            </a:avLst>
          </a:prstGeom>
          <a:solidFill>
            <a:srgbClr val="BF8F00"/>
          </a:solidFill>
          <a:ln/>
        </p:spPr>
      </p:sp>
      <p:sp>
        <p:nvSpPr>
          <p:cNvPr id="38" name="Text 36"/>
          <p:cNvSpPr/>
          <p:nvPr/>
        </p:nvSpPr>
        <p:spPr>
          <a:xfrm>
            <a:off x="8257032" y="4123944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 策略布局型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8257032" y="4544568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C455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為了未來機會與參考案例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8257032" y="5020056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F8F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分階段關卡／選擇權價值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8257032" y="5422392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例：第一家旗艦醫院 HIS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502920" y="5943600"/>
            <a:ext cx="11155680" cy="512064"/>
          </a:xfrm>
          <a:prstGeom prst="roundRect">
            <a:avLst>
              <a:gd name="adj" fmla="val 10714"/>
            </a:avLst>
          </a:prstGeom>
          <a:solidFill>
            <a:srgbClr val="FFF2CC"/>
          </a:solidFill>
          <a:ln w="12700">
            <a:solidFill>
              <a:srgbClr val="FFF2C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77240" y="6016752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4E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★ B 使能型有一道硬門檻：承載專案數必須 ≥ 2。只服務單一專案的「平台」，本質上是那個專案的成本，不是平台——工具會直接擋下來。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329184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2E74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THE DECISION LOGIC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02920" y="603504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223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怎麼決定屬於哪一類？四題就定了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02920" y="1207008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試算器內建「01B 類別判斷精靈」分頁，下拉回答四題即推薦類別、說明理由、列出下一步，並與目前的選擇比對。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1828800"/>
            <a:ext cx="2670048" cy="3246120"/>
          </a:xfrm>
          <a:prstGeom prst="roundRect">
            <a:avLst>
              <a:gd name="adj" fmla="val 2055"/>
            </a:avLst>
          </a:prstGeom>
          <a:solidFill>
            <a:srgbClr val="F4F6FA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22376" y="2029968"/>
            <a:ext cx="475488" cy="475488"/>
          </a:xfrm>
          <a:prstGeom prst="ellipse">
            <a:avLst/>
          </a:prstGeom>
          <a:solidFill>
            <a:srgbClr val="2E747A"/>
          </a:solidFill>
          <a:ln/>
        </p:spPr>
      </p:sp>
      <p:sp>
        <p:nvSpPr>
          <p:cNvPr id="8" name="Text 6"/>
          <p:cNvSpPr/>
          <p:nvPr/>
        </p:nvSpPr>
        <p:spPr>
          <a:xfrm>
            <a:off x="722376" y="202996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22376" y="2633472"/>
            <a:ext cx="2286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1223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有沒有錢從「聯盟外部」進來？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722376" y="3456432"/>
            <a:ext cx="2286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2E74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算得準 ⇒ A 營收型</a:t>
            </a:r>
            <a:endParaRPr lang="en-US" sz="11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2E74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算不準 ⇒ F 策略布局型</a:t>
            </a:r>
            <a:endParaRPr lang="en-US" sz="11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2E74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沒有 ⇒ 往下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374136" y="1828800"/>
            <a:ext cx="2670048" cy="3246120"/>
          </a:xfrm>
          <a:prstGeom prst="roundRect">
            <a:avLst>
              <a:gd name="adj" fmla="val 2055"/>
            </a:avLst>
          </a:prstGeom>
          <a:solidFill>
            <a:srgbClr val="F4F6FA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593592" y="2029968"/>
            <a:ext cx="475488" cy="475488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13" name="Text 11"/>
          <p:cNvSpPr/>
          <p:nvPr/>
        </p:nvSpPr>
        <p:spPr>
          <a:xfrm>
            <a:off x="3593592" y="202996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593592" y="2633472"/>
            <a:ext cx="2286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1223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不做的話會發生什麼？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3593592" y="3456432"/>
            <a:ext cx="2286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1F386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別的專案做不成 ⇒ 往 Q3</a:t>
            </a:r>
            <a:endParaRPr lang="en-US" sz="11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1F386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會被罰或停業 ⇒ C 法規強制</a:t>
            </a:r>
            <a:endParaRPr lang="en-US" sz="11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1F386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某筆支出繼續花 ⇒ 往 Q4</a:t>
            </a:r>
            <a:endParaRPr lang="en-US" sz="11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1F386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營運會中斷 ⇒ E 汰換維持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245352" y="1828800"/>
            <a:ext cx="2670048" cy="3246120"/>
          </a:xfrm>
          <a:prstGeom prst="roundRect">
            <a:avLst>
              <a:gd name="adj" fmla="val 2055"/>
            </a:avLst>
          </a:prstGeom>
          <a:solidFill>
            <a:srgbClr val="F4F6FA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64808" y="2029968"/>
            <a:ext cx="475488" cy="475488"/>
          </a:xfrm>
          <a:prstGeom prst="ellipse">
            <a:avLst/>
          </a:prstGeom>
          <a:solidFill>
            <a:srgbClr val="BF8F00"/>
          </a:solidFill>
          <a:ln/>
        </p:spPr>
      </p:sp>
      <p:sp>
        <p:nvSpPr>
          <p:cNvPr id="18" name="Text 16"/>
          <p:cNvSpPr/>
          <p:nvPr/>
        </p:nvSpPr>
        <p:spPr>
          <a:xfrm>
            <a:off x="6464808" y="202996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64808" y="2633472"/>
            <a:ext cx="2286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1223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承載幾個其他專案？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6464808" y="3456432"/>
            <a:ext cx="2286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BF8F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≥ 2 ⇒ B 使能型</a:t>
            </a:r>
            <a:endParaRPr lang="en-US" sz="11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BF8F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&lt; 2 ⇒ ⚠ 不應獨立立案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9116568" y="1828800"/>
            <a:ext cx="2670048" cy="3246120"/>
          </a:xfrm>
          <a:prstGeom prst="roundRect">
            <a:avLst>
              <a:gd name="adj" fmla="val 2055"/>
            </a:avLst>
          </a:prstGeom>
          <a:solidFill>
            <a:srgbClr val="F4F6FA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336024" y="2029968"/>
            <a:ext cx="475488" cy="475488"/>
          </a:xfrm>
          <a:prstGeom prst="ellipse">
            <a:avLst/>
          </a:prstGeom>
          <a:solidFill>
            <a:srgbClr val="548235"/>
          </a:solidFill>
          <a:ln/>
        </p:spPr>
      </p:sp>
      <p:sp>
        <p:nvSpPr>
          <p:cNvPr id="23" name="Text 21"/>
          <p:cNvSpPr/>
          <p:nvPr/>
        </p:nvSpPr>
        <p:spPr>
          <a:xfrm>
            <a:off x="9336024" y="202996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336024" y="2633472"/>
            <a:ext cx="2286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1223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不做的話營運會不會停擺？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9336024" y="3456432"/>
            <a:ext cx="2286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548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會停擺（沒得選）⇒ E</a:t>
            </a:r>
            <a:endParaRPr lang="en-US" sz="11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548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還能撐（有得選）⇒ D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502920" y="5212080"/>
            <a:ext cx="5486400" cy="1207008"/>
          </a:xfrm>
          <a:prstGeom prst="roundRect">
            <a:avLst>
              <a:gd name="adj" fmla="val 4545"/>
            </a:avLst>
          </a:prstGeom>
          <a:solidFill>
            <a:srgbClr val="FBE6E2"/>
          </a:solidFill>
          <a:ln w="12700">
            <a:solidFill>
              <a:srgbClr val="FBE6E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77240" y="5285232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精靈防得住什麼、防不住什麼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77240" y="5632704"/>
            <a:ext cx="4937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A2A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它防得住「不小心分錯」，防不住「刻意分錯」。唯一的硬門檻是承載專案數 ≥ 2，其餘靠填的人誠實回答。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172200" y="5212080"/>
            <a:ext cx="5486400" cy="1207008"/>
          </a:xfrm>
          <a:prstGeom prst="roundRect">
            <a:avLst>
              <a:gd name="adj" fmla="val 4545"/>
            </a:avLst>
          </a:prstGeom>
          <a:solidFill>
            <a:srgbClr val="DCEBD0"/>
          </a:solidFill>
          <a:ln w="12700">
            <a:solidFill>
              <a:srgbClr val="DCEBD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46520" y="5285232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48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所以我們讓它留痕跡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446520" y="5632704"/>
            <a:ext cx="4937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2E441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若有人繞過精靈直接改類別，設定頁會跳出 ⚠ 不一致，並要求到假設來源分頁寫下理由。這是留痕，不是上鎖。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329184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2E74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THE FINANCIAL ENGINE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02920" y="603504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223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財務模型的骨架：業界標準的無槓桿自由現金流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02920" y="1207008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不是自己發明的公式。營收 → EBITDA → 折舊 → EBIT → 所得稅 → NOPAT → ＋折舊 −資本支出 −營運資金 ＝ FCFF。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1783080"/>
            <a:ext cx="6675120" cy="429768"/>
          </a:xfrm>
          <a:prstGeom prst="roundRect">
            <a:avLst>
              <a:gd name="adj" fmla="val 12766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783080"/>
            <a:ext cx="36576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營收 Revenue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206240" y="1783080"/>
            <a:ext cx="28346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25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健保與自費分開（單價與收現速度都不同）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02920" y="2267712"/>
            <a:ext cx="6675120" cy="429768"/>
          </a:xfrm>
          <a:prstGeom prst="roundRect">
            <a:avLst>
              <a:gd name="adj" fmla="val 12766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267712"/>
            <a:ext cx="36576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− 營運成本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206240" y="2267712"/>
            <a:ext cx="28346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25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變動成本隨服務量爬坡縮放，固定成本不動；逐列設年成長率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02920" y="2752344"/>
            <a:ext cx="6675120" cy="429768"/>
          </a:xfrm>
          <a:prstGeom prst="roundRect">
            <a:avLst>
              <a:gd name="adj" fmla="val 12766"/>
            </a:avLst>
          </a:prstGeom>
          <a:solidFill>
            <a:srgbClr val="DCE6F4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2752344"/>
            <a:ext cx="36576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23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= EBITDA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206240" y="2752344"/>
            <a:ext cx="28346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25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折舊前營業利益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02920" y="3236976"/>
            <a:ext cx="6675120" cy="429768"/>
          </a:xfrm>
          <a:prstGeom prst="roundRect">
            <a:avLst>
              <a:gd name="adj" fmla="val 12766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3236976"/>
            <a:ext cx="36576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− 折舊攤提 D&amp;A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206240" y="3236976"/>
            <a:ext cx="28346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25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依越南 Circular 45/2013 法定年限，逐項計算；置換資產重新起算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02920" y="3721608"/>
            <a:ext cx="6675120" cy="429768"/>
          </a:xfrm>
          <a:prstGeom prst="roundRect">
            <a:avLst>
              <a:gd name="adj" fmla="val 12766"/>
            </a:avLst>
          </a:prstGeom>
          <a:solidFill>
            <a:srgbClr val="DCE6F4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" y="3721608"/>
            <a:ext cx="36576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23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= EBIT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206240" y="3721608"/>
            <a:ext cx="28346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02920" y="4206240"/>
            <a:ext cx="6675120" cy="429768"/>
          </a:xfrm>
          <a:prstGeom prst="roundRect">
            <a:avLst>
              <a:gd name="adj" fmla="val 12766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" y="4206240"/>
            <a:ext cx="36576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− 所得稅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206240" y="4206240"/>
            <a:ext cx="28346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25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內建免稅期起算規則與 5 年虧損扣抵；免稅期間不消耗扣抵額度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02920" y="4690872"/>
            <a:ext cx="6675120" cy="429768"/>
          </a:xfrm>
          <a:prstGeom prst="roundRect">
            <a:avLst>
              <a:gd name="adj" fmla="val 12766"/>
            </a:avLst>
          </a:prstGeom>
          <a:solidFill>
            <a:srgbClr val="DCE6F4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5800" y="4690872"/>
            <a:ext cx="36576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23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= NOPAT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206240" y="4690872"/>
            <a:ext cx="28346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25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稅後營業淨利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02920" y="5175504"/>
            <a:ext cx="6675120" cy="429768"/>
          </a:xfrm>
          <a:prstGeom prst="roundRect">
            <a:avLst>
              <a:gd name="adj" fmla="val 12766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5800" y="5175504"/>
            <a:ext cx="36576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＋折舊 −資本支出 −營運資金變動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4206240" y="5175504"/>
            <a:ext cx="28346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25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＋期末殘值回收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502920" y="5660136"/>
            <a:ext cx="6675120" cy="429768"/>
          </a:xfrm>
          <a:prstGeom prst="roundRect">
            <a:avLst>
              <a:gd name="adj" fmla="val 12766"/>
            </a:avLst>
          </a:prstGeom>
          <a:solidFill>
            <a:srgbClr val="DCE6F4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85800" y="5660136"/>
            <a:ext cx="36576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23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= FCFF 自由現金流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4206240" y="5660136"/>
            <a:ext cx="28346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25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折現後得到 NPV、MIRR、PI、ROIC、折現回收期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7452360" y="1783080"/>
            <a:ext cx="4206240" cy="2331720"/>
          </a:xfrm>
          <a:prstGeom prst="roundRect">
            <a:avLst>
              <a:gd name="adj" fmla="val 2353"/>
            </a:avLst>
          </a:prstGeom>
          <a:solidFill>
            <a:srgbClr val="FFF2CC"/>
          </a:solidFill>
          <a:ln w="12700">
            <a:solidFill>
              <a:srgbClr val="FFF2C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680960" y="1883664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A68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一個容易被做錯的地方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7680960" y="2249424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6B4E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稅要用「EBIT × 稅率」的未槓桿稅負，不能用損益表上的實際稅額。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7680960" y="2944368"/>
            <a:ext cx="3749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4E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因為利息稅盾已經包含在 WACC 的 Kd×(1−t) 裡，兩邊都算就會高估價值。這是投資銀行等級模型的基本紀律。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7452360" y="4160520"/>
            <a:ext cx="4206240" cy="2240280"/>
          </a:xfrm>
          <a:prstGeom prst="roundRect">
            <a:avLst>
              <a:gd name="adj" fmla="val 2449"/>
            </a:avLst>
          </a:prstGeom>
          <a:solidFill>
            <a:srgbClr val="DCEBD0"/>
          </a:solidFill>
          <a:ln w="12700">
            <a:solidFill>
              <a:srgbClr val="DCEBD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680960" y="4242816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48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主要報酬指標用 MIRR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7680960" y="4608576"/>
            <a:ext cx="3749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E441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IRR 隱含假設所有期中現金流都以 IRR 本身再投資——對高報酬專案極不現實；而且對正負交替的現金流可能有兩個解。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7680960" y="5669280"/>
            <a:ext cx="37490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2E441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本模型允許每個成本分項設「置換年」（球管第 5 年、UPS 電池與伺服器第 6 年），正是會產生多重解的型態。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14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329184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2E74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THE DISCOUNT RATE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02920" y="603504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223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折現率不是隨手填的數字——它比任何一筆成本估算都更能左右結論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02920" y="1207008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 CAPM 推算：無風險利率 ＋ β×成熟市場風險溢酬 ＋ 國家風險溢酬，再與稅後債務成本加權。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1828800"/>
            <a:ext cx="2670048" cy="2103120"/>
          </a:xfrm>
          <a:prstGeom prst="roundRect">
            <a:avLst>
              <a:gd name="adj" fmla="val 2609"/>
            </a:avLst>
          </a:prstGeom>
          <a:solidFill>
            <a:srgbClr val="F4F6FA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956816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23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無風險利率 Rf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85800" y="2359152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E74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4.54%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685800" y="2962656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4A525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越南 10 年期公債殖利率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4A525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tradingeconomics.com（2026-08-12）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374136" y="1828800"/>
            <a:ext cx="2670048" cy="2103120"/>
          </a:xfrm>
          <a:prstGeom prst="roundRect">
            <a:avLst>
              <a:gd name="adj" fmla="val 2609"/>
            </a:avLst>
          </a:prstGeom>
          <a:solidFill>
            <a:srgbClr val="F4F6FA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57016" y="1956816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23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成熟市場 ERP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557016" y="2359152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4.23%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3557016" y="2962656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4A525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Damodaran 2026-01：S&amp;P 500 隱含 ERP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4A525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扣除美國自身違約價差 0.23%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245352" y="1828800"/>
            <a:ext cx="2670048" cy="2103120"/>
          </a:xfrm>
          <a:prstGeom prst="roundRect">
            <a:avLst>
              <a:gd name="adj" fmla="val 2609"/>
            </a:avLst>
          </a:prstGeom>
          <a:solidFill>
            <a:srgbClr val="F4F6FA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28232" y="1956816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23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越南國家風險溢酬 CRP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28232" y="2359152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BF8F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3.90%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6428232" y="2962656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4A525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Damodaran 2026-01：Ba2 評等、違約價差 2.56%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4A525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再依股債波動比約 1.52 倍放大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9116568" y="1828800"/>
            <a:ext cx="2670048" cy="2103120"/>
          </a:xfrm>
          <a:prstGeom prst="roundRect">
            <a:avLst>
              <a:gd name="adj" fmla="val 2609"/>
            </a:avLst>
          </a:prstGeom>
          <a:solidFill>
            <a:srgbClr val="F4F6FA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299448" y="1956816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23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有槓桿 Beta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299448" y="2359152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6B3FA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Hamada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9299448" y="2962656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4A525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βL ＝ βu ×[1＋(1−t)×D/E]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4A525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醫院 0.55／醫材 0.83／電腦服務 0.92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02920" y="4114800"/>
            <a:ext cx="11155680" cy="960120"/>
          </a:xfrm>
          <a:prstGeom prst="roundRect">
            <a:avLst>
              <a:gd name="adj" fmla="val 5714"/>
            </a:avLst>
          </a:prstGeom>
          <a:solidFill>
            <a:srgbClr val="DCE6F4"/>
          </a:solidFill>
          <a:ln w="12700">
            <a:solidFill>
              <a:srgbClr val="DCE6F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7240" y="420624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23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三個模擬案實際算出來的折現率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4754880" y="4224528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CT 影像中心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754880" y="449884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E74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11.5%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7040880" y="4224528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IDC 機房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040880" y="449884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E74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10.8%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9326880" y="4224528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HIS／EMR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9326880" y="449884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E74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12.0%</a:t>
            </a:r>
            <a:endParaRPr lang="en-US" sz="2200" dirty="0"/>
          </a:p>
        </p:txBody>
      </p:sp>
      <p:sp>
        <p:nvSpPr>
          <p:cNvPr id="30" name="Shape 28"/>
          <p:cNvSpPr/>
          <p:nvPr/>
        </p:nvSpPr>
        <p:spPr>
          <a:xfrm>
            <a:off x="502920" y="5138928"/>
            <a:ext cx="11155680" cy="1261872"/>
          </a:xfrm>
          <a:prstGeom prst="roundRect">
            <a:avLst>
              <a:gd name="adj" fmla="val 4348"/>
            </a:avLst>
          </a:prstGeom>
          <a:solidFill>
            <a:srgbClr val="FFF2CC"/>
          </a:solidFill>
          <a:ln w="12700">
            <a:solidFill>
              <a:srgbClr val="FFF2C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77240" y="5212080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A68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兩件必須先講清楚的事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777240" y="5541264"/>
            <a:ext cx="10607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6B4E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折現率必須與投資方書面談定。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4E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同一份模型用 10% 和 13% 會得到相反的結論。工具已內建 ±2pp 的敏感度表，可當場示範。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6B4E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幣別一致性原則（Damodaran）：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4E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現金流與折現率必須同幣別；3–10 年預測不可直接用即期匯率外推。本模型採單一幣別建模、最後才換算。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15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329184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2E74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LOCAL PITFALLS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02920" y="603504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223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越南特有的四個財務陷阱——不熟的人會系統性低估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02920" y="1207008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這四項全部內建在工具的設定頁，不是寫死的常數，可依在地顧問的確認結果調整。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1755648"/>
            <a:ext cx="5468112" cy="2103120"/>
          </a:xfrm>
          <a:prstGeom prst="roundRect">
            <a:avLst>
              <a:gd name="adj" fmla="val 2609"/>
            </a:avLst>
          </a:prstGeom>
          <a:solidFill>
            <a:srgbClr val="FBE6E2"/>
          </a:solidFill>
          <a:ln w="12700">
            <a:solidFill>
              <a:srgbClr val="FBE6E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22376" y="1901952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C039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進項 VAT 不可扣抵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722376" y="2304288"/>
            <a:ext cx="50292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3C455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越南醫療檢查治療服務屬 VAT「免稅（exempt）」而非零稅率（VAT Law 48/2024 第 5 條第 10 款）。免稅代表進項 VAT 不可退還，必須全額資本化。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22376" y="3291840"/>
            <a:ext cx="5029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C039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▶ 漏掉這一項，CAPEX 會少估 5–10%。工具在成本頁設有「不可扣抵稅費佔比」檢查點，低於 4% 就是算錯了。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172200" y="1755648"/>
            <a:ext cx="5468112" cy="2103120"/>
          </a:xfrm>
          <a:prstGeom prst="roundRect">
            <a:avLst>
              <a:gd name="adj" fmla="val 2609"/>
            </a:avLst>
          </a:prstGeom>
          <a:solidFill>
            <a:srgbClr val="DCEBD0"/>
          </a:solidFill>
          <a:ln w="12700">
            <a:solidFill>
              <a:srgbClr val="DCEBD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91656" y="1901952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548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社會化醫療優惠稅率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6391656" y="2304288"/>
            <a:ext cx="50292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3C455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PwC 明載：教育、醫療等社會化領域享有「整個專案存續期間」的 10% 稅率，另有免稅 4 年＋減半 5 年。免稅期自「首次獲利年」起算。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391656" y="3291840"/>
            <a:ext cx="5029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548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▶ 用 20% 標準稅率算會低估報酬；但資格認定須由在地稅務顧問確認，下檔情境應改回 20% 測試。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2920" y="3995928"/>
            <a:ext cx="5468112" cy="2103120"/>
          </a:xfrm>
          <a:prstGeom prst="roundRect">
            <a:avLst>
              <a:gd name="adj" fmla="val 2609"/>
            </a:avLst>
          </a:prstGeom>
          <a:solidFill>
            <a:srgbClr val="FFF2CC"/>
          </a:solidFill>
          <a:ln w="12700">
            <a:solidFill>
              <a:srgbClr val="FFF2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22376" y="4142232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BF8F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健保應收帳款延遲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722376" y="4544568"/>
            <a:ext cx="50292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3C455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2025 年 8 月報導：胡志明市各醫院被健保懸置未結算的費用近 2,500 十億越盾，橫跨兩年，醫院須依健保法第 32 條請求社保墊付。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22376" y="5532120"/>
            <a:ext cx="5029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BF8F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▶ 不能套用一般的 30–60 天假設。工具把健保應收與自費應收分開設定，CT 案用 150／5 天。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172200" y="3995928"/>
            <a:ext cx="5468112" cy="2103120"/>
          </a:xfrm>
          <a:prstGeom prst="roundRect">
            <a:avLst>
              <a:gd name="adj" fmla="val 2609"/>
            </a:avLst>
          </a:prstGeom>
          <a:solidFill>
            <a:srgbClr val="DCE6F4"/>
          </a:solidFill>
          <a:ln w="12700">
            <a:solidFill>
              <a:srgbClr val="DCE6F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91656" y="4142232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386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利潤匯回限制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6391656" y="4544568"/>
            <a:ext cx="50292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3C455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有累積虧損的企業不得匯出利潤，即使當年度獲利（Circular 186/2010＋Decree 252/2026）。匯出前 7 個工作天須通知稅務機關。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391656" y="5532120"/>
            <a:ext cx="5029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▶ 早期虧損會直接卡住資金回台。股權價值應以「可實際匯回的現金流」評估，不是帳面 FCFE。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02920" y="6199632"/>
            <a:ext cx="11155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折舊年限亦依越南 Circular 45/2013/TT-BTC 法定區間：建物 25–50 年、醫療設備 6–15 年、電腦設備 3–8 年、軟體 3–8 年。若適用長期免稅，宜取上限拉長折舊。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329184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2E74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RISK ANALYSIS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02920" y="603504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223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三個工具回答三個不同的問題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02920" y="1207008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不是把數字算出來就結束——更重要的是知道哪個變數最致命，以及世界比預期差的時候會怎樣。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1828800"/>
            <a:ext cx="3584448" cy="3291840"/>
          </a:xfrm>
          <a:prstGeom prst="roundRect">
            <a:avLst>
              <a:gd name="adj" fmla="val 1667"/>
            </a:avLst>
          </a:prstGeom>
          <a:solidFill>
            <a:srgbClr val="D9EDEF"/>
          </a:solidFill>
          <a:ln w="12700">
            <a:solidFill>
              <a:srgbClr val="D9EDE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04088" y="2029968"/>
            <a:ext cx="1554480" cy="402336"/>
          </a:xfrm>
          <a:prstGeom prst="roundRect">
            <a:avLst>
              <a:gd name="adj" fmla="val 18182"/>
            </a:avLst>
          </a:prstGeom>
          <a:solidFill>
            <a:srgbClr val="2E747A"/>
          </a:solidFill>
          <a:ln/>
        </p:spPr>
      </p:sp>
      <p:sp>
        <p:nvSpPr>
          <p:cNvPr id="8" name="Text 6"/>
          <p:cNvSpPr/>
          <p:nvPr/>
        </p:nvSpPr>
        <p:spPr>
          <a:xfrm>
            <a:off x="704088" y="2029968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情境分析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04088" y="2578608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1223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如果整個世界比預期差，會怎樣？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704088" y="3364992"/>
            <a:ext cx="320040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2000"/>
              </a:lnSpc>
              <a:buNone/>
            </a:pPr>
            <a:r>
              <a:rPr lang="en-US" sz="1100" dirty="0">
                <a:solidFill>
                  <a:srgbClr val="3C455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保守／基準／樂觀三組假設同時切換：服務量、單價、營運成本、資本支出、折現率。保守情境是送投資決策時真正要看的那一欄。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288536" y="1828800"/>
            <a:ext cx="3584448" cy="3291840"/>
          </a:xfrm>
          <a:prstGeom prst="roundRect">
            <a:avLst>
              <a:gd name="adj" fmla="val 1667"/>
            </a:avLst>
          </a:prstGeom>
          <a:solidFill>
            <a:srgbClr val="FFF2CC"/>
          </a:solidFill>
          <a:ln w="12700">
            <a:solidFill>
              <a:srgbClr val="FFF2C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89704" y="2029968"/>
            <a:ext cx="1554480" cy="402336"/>
          </a:xfrm>
          <a:prstGeom prst="roundRect">
            <a:avLst>
              <a:gd name="adj" fmla="val 18182"/>
            </a:avLst>
          </a:prstGeom>
          <a:solidFill>
            <a:srgbClr val="BF8F00"/>
          </a:solidFill>
          <a:ln/>
        </p:spPr>
      </p:sp>
      <p:sp>
        <p:nvSpPr>
          <p:cNvPr id="13" name="Text 11"/>
          <p:cNvSpPr/>
          <p:nvPr/>
        </p:nvSpPr>
        <p:spPr>
          <a:xfrm>
            <a:off x="4489704" y="2029968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龍捲風圖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489704" y="2578608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1223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哪一個變數最致命，該優先查證或談判？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489704" y="3364992"/>
            <a:ext cx="320040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2000"/>
              </a:lnSpc>
              <a:buNone/>
            </a:pPr>
            <a:r>
              <a:rPr lang="en-US" sz="1100" dirty="0">
                <a:solidFill>
                  <a:srgbClr val="3C455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一次只變動一個變數（±15%，折現率 ±1pp），依影響幅度由大到小排序。★ 應在跑任何複雜模擬之前先做——它告訴你該把查證力氣花在哪裡。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074152" y="1828800"/>
            <a:ext cx="3584448" cy="3291840"/>
          </a:xfrm>
          <a:prstGeom prst="roundRect">
            <a:avLst>
              <a:gd name="adj" fmla="val 1667"/>
            </a:avLst>
          </a:prstGeom>
          <a:solidFill>
            <a:srgbClr val="DCEBD0"/>
          </a:solidFill>
          <a:ln w="12700">
            <a:solidFill>
              <a:srgbClr val="DCEBD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75320" y="2029968"/>
            <a:ext cx="1554480" cy="402336"/>
          </a:xfrm>
          <a:prstGeom prst="roundRect">
            <a:avLst>
              <a:gd name="adj" fmla="val 18182"/>
            </a:avLst>
          </a:prstGeom>
          <a:solidFill>
            <a:srgbClr val="548235"/>
          </a:solidFill>
          <a:ln/>
        </p:spPr>
      </p:sp>
      <p:sp>
        <p:nvSpPr>
          <p:cNvPr id="18" name="Text 16"/>
          <p:cNvSpPr/>
          <p:nvPr/>
        </p:nvSpPr>
        <p:spPr>
          <a:xfrm>
            <a:off x="8275320" y="2029968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損益兩平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275320" y="2578608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1223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至少要做到多少才不虧？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8275320" y="3364992"/>
            <a:ext cx="320040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2000"/>
              </a:lnSpc>
              <a:buNone/>
            </a:pPr>
            <a:r>
              <a:rPr lang="en-US" sz="1100" dirty="0">
                <a:solidFill>
                  <a:srgbClr val="3C455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反解出 NPV＝0 所需的單價與服務量調整幅度，以及 EBITDA 兩平的年服務量。若兩平量高於規劃滿載量的 70%，代表幾乎沒有容錯空間。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02920" y="5193792"/>
            <a:ext cx="11155680" cy="1225296"/>
          </a:xfrm>
          <a:prstGeom prst="roundRect">
            <a:avLst>
              <a:gd name="adj" fmla="val 4478"/>
            </a:avLst>
          </a:prstGeom>
          <a:solidFill>
            <a:srgbClr val="DCE6F4"/>
          </a:solidFill>
          <a:ln w="12700">
            <a:solidFill>
              <a:srgbClr val="DCE6F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" y="528523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3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以 IDC 機房案為例，龍捲風圖排出來的前三名是：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22960" y="5650992"/>
            <a:ext cx="274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F8F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115568" y="5650992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3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營運成本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22960" y="5980176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C455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電價歸類（Circular 60/2025）可讓電費升 45–55%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480560" y="5650992"/>
            <a:ext cx="274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F8F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4773168" y="5650992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3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資本支出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480560" y="5980176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C455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把示意值換成正式報價就能大幅收斂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8138160" y="5650992"/>
            <a:ext cx="274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F8F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③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8430768" y="5650992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3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折現率 WACC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8138160" y="5980176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C455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須先與投資方談定口徑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17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329184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2E74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THREE WORKED CASES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02920" y="603504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223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三個模擬案：同一個模型、三種類別、三種答案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02920" y="1207008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金額單位＝千元新台幣。每一筆數字都對得上越南 2025–2026 的公開資料，逐筆列在各檔的假設來源分頁。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88920" y="1755648"/>
            <a:ext cx="2880360" cy="548640"/>
          </a:xfrm>
          <a:prstGeom prst="roundRect">
            <a:avLst>
              <a:gd name="adj" fmla="val 10000"/>
            </a:avLst>
          </a:prstGeom>
          <a:solidFill>
            <a:srgbClr val="12233F"/>
          </a:solidFill>
          <a:ln w="12700">
            <a:solidFill>
              <a:srgbClr val="12233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880360" y="1755648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A醫院 · CT 影像中心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742432" y="1755648"/>
            <a:ext cx="2880360" cy="548640"/>
          </a:xfrm>
          <a:prstGeom prst="roundRect">
            <a:avLst>
              <a:gd name="adj" fmla="val 10000"/>
            </a:avLst>
          </a:prstGeom>
          <a:solidFill>
            <a:srgbClr val="12233F"/>
          </a:solidFill>
          <a:ln w="12700">
            <a:solidFill>
              <a:srgbClr val="12233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833872" y="1755648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A醫院 · IDC 機房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695944" y="1755648"/>
            <a:ext cx="2889504" cy="548640"/>
          </a:xfrm>
          <a:prstGeom prst="roundRect">
            <a:avLst>
              <a:gd name="adj" fmla="val 10000"/>
            </a:avLst>
          </a:prstGeom>
          <a:solidFill>
            <a:srgbClr val="12233F"/>
          </a:solidFill>
          <a:ln w="12700">
            <a:solidFill>
              <a:srgbClr val="12233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787384" y="1755648"/>
            <a:ext cx="27066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B醫院 · HIS／EMR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02920" y="2304288"/>
            <a:ext cx="2212848" cy="365760"/>
          </a:xfrm>
          <a:prstGeom prst="roundRect">
            <a:avLst>
              <a:gd name="adj" fmla="val 15000"/>
            </a:avLst>
          </a:prstGeom>
          <a:solidFill>
            <a:srgbClr val="EDEFF3"/>
          </a:solidFill>
          <a:ln w="12700">
            <a:solidFill>
              <a:srgbClr val="EDEFF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" y="230428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23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投資類別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88920" y="2304288"/>
            <a:ext cx="2880360" cy="365760"/>
          </a:xfrm>
          <a:prstGeom prst="roundRect">
            <a:avLst>
              <a:gd name="adj" fmla="val 15000"/>
            </a:avLst>
          </a:prstGeom>
          <a:solidFill>
            <a:srgbClr val="F4F6FA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862072" y="2304288"/>
            <a:ext cx="2734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23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 營收型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742432" y="2304288"/>
            <a:ext cx="2880360" cy="365760"/>
          </a:xfrm>
          <a:prstGeom prst="roundRect">
            <a:avLst>
              <a:gd name="adj" fmla="val 15000"/>
            </a:avLst>
          </a:prstGeom>
          <a:solidFill>
            <a:srgbClr val="DCEBD0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815584" y="2304288"/>
            <a:ext cx="2734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23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 使能型 ★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695944" y="2304288"/>
            <a:ext cx="2889504" cy="365760"/>
          </a:xfrm>
          <a:prstGeom prst="roundRect">
            <a:avLst>
              <a:gd name="adj" fmla="val 15000"/>
            </a:avLst>
          </a:prstGeom>
          <a:solidFill>
            <a:srgbClr val="F4F6FA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769096" y="230428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23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 策略布局型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02920" y="2715768"/>
            <a:ext cx="2212848" cy="365760"/>
          </a:xfrm>
          <a:prstGeom prst="roundRect">
            <a:avLst>
              <a:gd name="adj" fmla="val 15000"/>
            </a:avLst>
          </a:prstGeom>
          <a:solidFill>
            <a:srgbClr val="EDEFF3"/>
          </a:solidFill>
          <a:ln w="12700">
            <a:solidFill>
              <a:srgbClr val="EDEFF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1792" y="271576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23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折現率 WACC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788920" y="2715768"/>
            <a:ext cx="288036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862072" y="2715768"/>
            <a:ext cx="2734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223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11.5%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742432" y="2715768"/>
            <a:ext cx="288036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815584" y="2715768"/>
            <a:ext cx="2734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223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10.8%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8695944" y="2715768"/>
            <a:ext cx="2889504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769096" y="271576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223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12.0%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02920" y="3127248"/>
            <a:ext cx="2212848" cy="365760"/>
          </a:xfrm>
          <a:prstGeom prst="roundRect">
            <a:avLst>
              <a:gd name="adj" fmla="val 15000"/>
            </a:avLst>
          </a:prstGeom>
          <a:solidFill>
            <a:srgbClr val="EDEFF3"/>
          </a:solidFill>
          <a:ln w="12700">
            <a:solidFill>
              <a:srgbClr val="EDEFF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1792" y="312724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23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投資總額 CAPEX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788920" y="3127248"/>
            <a:ext cx="2880360" cy="365760"/>
          </a:xfrm>
          <a:prstGeom prst="roundRect">
            <a:avLst>
              <a:gd name="adj" fmla="val 15000"/>
            </a:avLst>
          </a:prstGeom>
          <a:solidFill>
            <a:srgbClr val="F4F6FA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862072" y="3127248"/>
            <a:ext cx="2734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223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43,334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5742432" y="3127248"/>
            <a:ext cx="2880360" cy="365760"/>
          </a:xfrm>
          <a:prstGeom prst="roundRect">
            <a:avLst>
              <a:gd name="adj" fmla="val 15000"/>
            </a:avLst>
          </a:prstGeom>
          <a:solidFill>
            <a:srgbClr val="F4F6FA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815584" y="3127248"/>
            <a:ext cx="2734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223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43,642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8695944" y="3127248"/>
            <a:ext cx="2889504" cy="365760"/>
          </a:xfrm>
          <a:prstGeom prst="roundRect">
            <a:avLst>
              <a:gd name="adj" fmla="val 15000"/>
            </a:avLst>
          </a:prstGeom>
          <a:solidFill>
            <a:srgbClr val="F4F6FA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769096" y="312724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223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41,020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502920" y="3538728"/>
            <a:ext cx="2212848" cy="365760"/>
          </a:xfrm>
          <a:prstGeom prst="roundRect">
            <a:avLst>
              <a:gd name="adj" fmla="val 15000"/>
            </a:avLst>
          </a:prstGeom>
          <a:solidFill>
            <a:srgbClr val="EDEFF3"/>
          </a:solidFill>
          <a:ln w="12700">
            <a:solidFill>
              <a:srgbClr val="EDEFF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21792" y="353872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23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NPV 淨現值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2788920" y="3538728"/>
            <a:ext cx="288036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862072" y="3538728"/>
            <a:ext cx="2734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48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+13,050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5742432" y="3538728"/>
            <a:ext cx="288036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815584" y="3538728"/>
            <a:ext cx="2734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039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−102,691（不適用）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8695944" y="3538728"/>
            <a:ext cx="2889504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769096" y="353872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039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−25,766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502920" y="3950208"/>
            <a:ext cx="2212848" cy="365760"/>
          </a:xfrm>
          <a:prstGeom prst="roundRect">
            <a:avLst>
              <a:gd name="adj" fmla="val 15000"/>
            </a:avLst>
          </a:prstGeom>
          <a:solidFill>
            <a:srgbClr val="EDEFF3"/>
          </a:solidFill>
          <a:ln w="12700">
            <a:solidFill>
              <a:srgbClr val="EDEFF3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21792" y="395020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23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MIRR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2788920" y="3950208"/>
            <a:ext cx="2880360" cy="365760"/>
          </a:xfrm>
          <a:prstGeom prst="roundRect">
            <a:avLst>
              <a:gd name="adj" fmla="val 15000"/>
            </a:avLst>
          </a:prstGeom>
          <a:solidFill>
            <a:srgbClr val="F4F6FA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862072" y="3950208"/>
            <a:ext cx="2734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223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13.1%</a:t>
            </a:r>
            <a:endParaRPr lang="en-US" sz="1150" dirty="0"/>
          </a:p>
        </p:txBody>
      </p:sp>
      <p:sp>
        <p:nvSpPr>
          <p:cNvPr id="48" name="Shape 46"/>
          <p:cNvSpPr/>
          <p:nvPr/>
        </p:nvSpPr>
        <p:spPr>
          <a:xfrm>
            <a:off x="5742432" y="3950208"/>
            <a:ext cx="2880360" cy="365760"/>
          </a:xfrm>
          <a:prstGeom prst="roundRect">
            <a:avLst>
              <a:gd name="adj" fmla="val 15000"/>
            </a:avLst>
          </a:prstGeom>
          <a:solidFill>
            <a:srgbClr val="F4F6FA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815584" y="3950208"/>
            <a:ext cx="2734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A8B0B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—</a:t>
            </a:r>
            <a:endParaRPr lang="en-US" sz="1150" dirty="0"/>
          </a:p>
        </p:txBody>
      </p:sp>
      <p:sp>
        <p:nvSpPr>
          <p:cNvPr id="50" name="Shape 48"/>
          <p:cNvSpPr/>
          <p:nvPr/>
        </p:nvSpPr>
        <p:spPr>
          <a:xfrm>
            <a:off x="8695944" y="3950208"/>
            <a:ext cx="2889504" cy="365760"/>
          </a:xfrm>
          <a:prstGeom prst="roundRect">
            <a:avLst>
              <a:gd name="adj" fmla="val 15000"/>
            </a:avLst>
          </a:prstGeom>
          <a:solidFill>
            <a:srgbClr val="F4F6FA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769096" y="395020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223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0.9%</a:t>
            </a:r>
            <a:endParaRPr lang="en-US" sz="1150" dirty="0"/>
          </a:p>
        </p:txBody>
      </p:sp>
      <p:sp>
        <p:nvSpPr>
          <p:cNvPr id="52" name="Shape 50"/>
          <p:cNvSpPr/>
          <p:nvPr/>
        </p:nvSpPr>
        <p:spPr>
          <a:xfrm>
            <a:off x="502920" y="4361688"/>
            <a:ext cx="2212848" cy="365760"/>
          </a:xfrm>
          <a:prstGeom prst="roundRect">
            <a:avLst>
              <a:gd name="adj" fmla="val 15000"/>
            </a:avLst>
          </a:prstGeom>
          <a:solidFill>
            <a:srgbClr val="EDEFF3"/>
          </a:solidFill>
          <a:ln w="12700">
            <a:solidFill>
              <a:srgbClr val="EDEFF3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21792" y="436168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23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ΔTCO（外租−自建）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2788920" y="4361688"/>
            <a:ext cx="2880360" cy="365760"/>
          </a:xfrm>
          <a:prstGeom prst="roundRect">
            <a:avLst>
              <a:gd name="adj" fmla="val 15000"/>
            </a:avLst>
          </a:prstGeom>
          <a:solidFill>
            <a:srgbClr val="F4F6FA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862072" y="4361688"/>
            <a:ext cx="2734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8B0B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—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5742432" y="4361688"/>
            <a:ext cx="2880360" cy="365760"/>
          </a:xfrm>
          <a:prstGeom prst="roundRect">
            <a:avLst>
              <a:gd name="adj" fmla="val 15000"/>
            </a:avLst>
          </a:prstGeom>
          <a:solidFill>
            <a:srgbClr val="DCEBD0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815584" y="4361688"/>
            <a:ext cx="2734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48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+14,388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8695944" y="4361688"/>
            <a:ext cx="2889504" cy="365760"/>
          </a:xfrm>
          <a:prstGeom prst="roundRect">
            <a:avLst>
              <a:gd name="adj" fmla="val 15000"/>
            </a:avLst>
          </a:prstGeom>
          <a:solidFill>
            <a:srgbClr val="F4F6FA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8769096" y="436168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8B0B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—</a:t>
            </a:r>
            <a:endParaRPr lang="en-US" sz="1200" dirty="0"/>
          </a:p>
        </p:txBody>
      </p:sp>
      <p:sp>
        <p:nvSpPr>
          <p:cNvPr id="60" name="Shape 58"/>
          <p:cNvSpPr/>
          <p:nvPr/>
        </p:nvSpPr>
        <p:spPr>
          <a:xfrm>
            <a:off x="502920" y="4773168"/>
            <a:ext cx="2212848" cy="365760"/>
          </a:xfrm>
          <a:prstGeom prst="roundRect">
            <a:avLst>
              <a:gd name="adj" fmla="val 15000"/>
            </a:avLst>
          </a:prstGeom>
          <a:solidFill>
            <a:srgbClr val="EDEFF3"/>
          </a:solidFill>
          <a:ln w="12700">
            <a:solidFill>
              <a:srgbClr val="EDEFF3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21792" y="477316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23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回收期／承載專案數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2788920" y="4773168"/>
            <a:ext cx="2880360" cy="365760"/>
          </a:xfrm>
          <a:prstGeom prst="roundRect">
            <a:avLst>
              <a:gd name="adj" fmla="val 15000"/>
            </a:avLst>
          </a:prstGeom>
          <a:solidFill>
            <a:srgbClr val="F4F6FA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2862072" y="4773168"/>
            <a:ext cx="2734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23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7.8 年</a:t>
            </a:r>
            <a:endParaRPr lang="en-US" sz="1200" dirty="0"/>
          </a:p>
        </p:txBody>
      </p:sp>
      <p:sp>
        <p:nvSpPr>
          <p:cNvPr id="64" name="Shape 62"/>
          <p:cNvSpPr/>
          <p:nvPr/>
        </p:nvSpPr>
        <p:spPr>
          <a:xfrm>
            <a:off x="5742432" y="4773168"/>
            <a:ext cx="2880360" cy="365760"/>
          </a:xfrm>
          <a:prstGeom prst="roundRect">
            <a:avLst>
              <a:gd name="adj" fmla="val 15000"/>
            </a:avLst>
          </a:prstGeom>
          <a:solidFill>
            <a:srgbClr val="DCEBD0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5815584" y="4773168"/>
            <a:ext cx="2734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23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4.0 年　／　7 個</a:t>
            </a:r>
            <a:endParaRPr lang="en-US" sz="1200" dirty="0"/>
          </a:p>
        </p:txBody>
      </p:sp>
      <p:sp>
        <p:nvSpPr>
          <p:cNvPr id="66" name="Shape 64"/>
          <p:cNvSpPr/>
          <p:nvPr/>
        </p:nvSpPr>
        <p:spPr>
          <a:xfrm>
            <a:off x="8695944" y="4773168"/>
            <a:ext cx="2889504" cy="365760"/>
          </a:xfrm>
          <a:prstGeom prst="roundRect">
            <a:avLst>
              <a:gd name="adj" fmla="val 15000"/>
            </a:avLst>
          </a:prstGeom>
          <a:solidFill>
            <a:srgbClr val="F4F6FA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8769096" y="477316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23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未回收</a:t>
            </a:r>
            <a:endParaRPr lang="en-US" sz="1200" dirty="0"/>
          </a:p>
        </p:txBody>
      </p:sp>
      <p:sp>
        <p:nvSpPr>
          <p:cNvPr id="68" name="Shape 66"/>
          <p:cNvSpPr/>
          <p:nvPr/>
        </p:nvSpPr>
        <p:spPr>
          <a:xfrm>
            <a:off x="502920" y="5184648"/>
            <a:ext cx="2212848" cy="365760"/>
          </a:xfrm>
          <a:prstGeom prst="roundRect">
            <a:avLst>
              <a:gd name="adj" fmla="val 15000"/>
            </a:avLst>
          </a:prstGeom>
          <a:solidFill>
            <a:srgbClr val="EDEFF3"/>
          </a:solidFill>
          <a:ln w="12700">
            <a:solidFill>
              <a:srgbClr val="EDEFF3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621792" y="518464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23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自建單位成本 vs 市價</a:t>
            </a:r>
            <a:endParaRPr lang="en-US" sz="1100" dirty="0"/>
          </a:p>
        </p:txBody>
      </p:sp>
      <p:sp>
        <p:nvSpPr>
          <p:cNvPr id="70" name="Shape 68"/>
          <p:cNvSpPr/>
          <p:nvPr/>
        </p:nvSpPr>
        <p:spPr>
          <a:xfrm>
            <a:off x="2788920" y="5184648"/>
            <a:ext cx="2880360" cy="365760"/>
          </a:xfrm>
          <a:prstGeom prst="roundRect">
            <a:avLst>
              <a:gd name="adj" fmla="val 15000"/>
            </a:avLst>
          </a:prstGeom>
          <a:solidFill>
            <a:srgbClr val="F4F6FA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2862072" y="5184648"/>
            <a:ext cx="2734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8B0B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—</a:t>
            </a:r>
            <a:endParaRPr lang="en-US" sz="1200" dirty="0"/>
          </a:p>
        </p:txBody>
      </p:sp>
      <p:sp>
        <p:nvSpPr>
          <p:cNvPr id="72" name="Shape 70"/>
          <p:cNvSpPr/>
          <p:nvPr/>
        </p:nvSpPr>
        <p:spPr>
          <a:xfrm>
            <a:off x="5742432" y="5184648"/>
            <a:ext cx="2880360" cy="365760"/>
          </a:xfrm>
          <a:prstGeom prst="roundRect">
            <a:avLst>
              <a:gd name="adj" fmla="val 15000"/>
            </a:avLst>
          </a:prstGeom>
          <a:solidFill>
            <a:srgbClr val="DCEBD0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5815584" y="5184648"/>
            <a:ext cx="2734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23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59%</a:t>
            </a:r>
            <a:endParaRPr lang="en-US" sz="1200" dirty="0"/>
          </a:p>
        </p:txBody>
      </p:sp>
      <p:sp>
        <p:nvSpPr>
          <p:cNvPr id="74" name="Shape 72"/>
          <p:cNvSpPr/>
          <p:nvPr/>
        </p:nvSpPr>
        <p:spPr>
          <a:xfrm>
            <a:off x="8695944" y="5184648"/>
            <a:ext cx="2889504" cy="365760"/>
          </a:xfrm>
          <a:prstGeom prst="roundRect">
            <a:avLst>
              <a:gd name="adj" fmla="val 15000"/>
            </a:avLst>
          </a:prstGeom>
          <a:solidFill>
            <a:srgbClr val="F4F6FA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8769096" y="518464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8B0B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—</a:t>
            </a:r>
            <a:endParaRPr lang="en-US" sz="1200" dirty="0"/>
          </a:p>
        </p:txBody>
      </p:sp>
      <p:sp>
        <p:nvSpPr>
          <p:cNvPr id="76" name="Shape 74"/>
          <p:cNvSpPr/>
          <p:nvPr/>
        </p:nvSpPr>
        <p:spPr>
          <a:xfrm>
            <a:off x="502920" y="5596128"/>
            <a:ext cx="2212848" cy="365760"/>
          </a:xfrm>
          <a:prstGeom prst="roundRect">
            <a:avLst>
              <a:gd name="adj" fmla="val 15000"/>
            </a:avLst>
          </a:prstGeom>
          <a:solidFill>
            <a:srgbClr val="EDEFF3"/>
          </a:solidFill>
          <a:ln w="12700">
            <a:solidFill>
              <a:srgbClr val="EDEFF3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621792" y="559612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23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自動判讀</a:t>
            </a:r>
            <a:endParaRPr lang="en-US" sz="1100" dirty="0"/>
          </a:p>
        </p:txBody>
      </p:sp>
      <p:sp>
        <p:nvSpPr>
          <p:cNvPr id="78" name="Shape 76"/>
          <p:cNvSpPr/>
          <p:nvPr/>
        </p:nvSpPr>
        <p:spPr>
          <a:xfrm>
            <a:off x="2788920" y="5596128"/>
            <a:ext cx="2880360" cy="365760"/>
          </a:xfrm>
          <a:prstGeom prst="roundRect">
            <a:avLst>
              <a:gd name="adj" fmla="val 15000"/>
            </a:avLst>
          </a:prstGeom>
          <a:solidFill>
            <a:srgbClr val="F4F6FA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2862072" y="5596128"/>
            <a:ext cx="2734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F8F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△ 可行但偏慢</a:t>
            </a:r>
            <a:endParaRPr lang="en-US" sz="1200" dirty="0"/>
          </a:p>
        </p:txBody>
      </p:sp>
      <p:sp>
        <p:nvSpPr>
          <p:cNvPr id="80" name="Shape 78"/>
          <p:cNvSpPr/>
          <p:nvPr/>
        </p:nvSpPr>
        <p:spPr>
          <a:xfrm>
            <a:off x="5742432" y="5596128"/>
            <a:ext cx="2880360" cy="365760"/>
          </a:xfrm>
          <a:prstGeom prst="roundRect">
            <a:avLst>
              <a:gd name="adj" fmla="val 15000"/>
            </a:avLst>
          </a:prstGeom>
          <a:solidFill>
            <a:srgbClr val="DCEBD0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5815584" y="5596128"/>
            <a:ext cx="2734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48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○ 建議自建</a:t>
            </a:r>
            <a:endParaRPr lang="en-US" sz="1200" dirty="0"/>
          </a:p>
        </p:txBody>
      </p:sp>
      <p:sp>
        <p:nvSpPr>
          <p:cNvPr id="82" name="Shape 80"/>
          <p:cNvSpPr/>
          <p:nvPr/>
        </p:nvSpPr>
        <p:spPr>
          <a:xfrm>
            <a:off x="8695944" y="5596128"/>
            <a:ext cx="2889504" cy="365760"/>
          </a:xfrm>
          <a:prstGeom prst="roundRect">
            <a:avLst>
              <a:gd name="adj" fmla="val 15000"/>
            </a:avLst>
          </a:prstGeom>
          <a:solidFill>
            <a:srgbClr val="F4F6FA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8769096" y="559612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23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分階段關卡</a:t>
            </a:r>
            <a:endParaRPr lang="en-US" sz="1200" dirty="0"/>
          </a:p>
        </p:txBody>
      </p:sp>
      <p:sp>
        <p:nvSpPr>
          <p:cNvPr id="84" name="Shape 82"/>
          <p:cNvSpPr/>
          <p:nvPr/>
        </p:nvSpPr>
        <p:spPr>
          <a:xfrm>
            <a:off x="502920" y="6053328"/>
            <a:ext cx="11155680" cy="310896"/>
          </a:xfrm>
          <a:prstGeom prst="roundRect">
            <a:avLst>
              <a:gd name="adj" fmla="val 17647"/>
            </a:avLst>
          </a:prstGeom>
          <a:solidFill>
            <a:srgbClr val="FFF2CC"/>
          </a:solidFill>
          <a:ln w="12700">
            <a:solidFill>
              <a:srgbClr val="FFF2CC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731520" y="6053328"/>
            <a:ext cx="1069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4E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※ 金額為規劃用示意值，用來示範模型如何運作；正式評估前每一筆都須以廠商報價或越南在地工程估算取代。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18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329184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2E74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CASE 1 · A 營收型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02920" y="603504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223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CT 影像中心：三案中唯一「做一件收一件」的題目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02920" y="1207008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因為影像檢查有明確的健保給付碼與自費市場，收入邏輯成立，所以用 NPV／MIRR 這把尺是對的。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1810512"/>
            <a:ext cx="2670048" cy="1783080"/>
          </a:xfrm>
          <a:prstGeom prst="roundRect">
            <a:avLst>
              <a:gd name="adj" fmla="val 3077"/>
            </a:avLst>
          </a:prstGeom>
          <a:solidFill>
            <a:srgbClr val="F4F6FA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920240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CAPEX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85800" y="2212848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386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43,334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685800" y="2816352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3C455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43 個 BOQ 分項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3C455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不可扣抵稅費佔 7.7%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374136" y="1810512"/>
            <a:ext cx="2670048" cy="1783080"/>
          </a:xfrm>
          <a:prstGeom prst="roundRect">
            <a:avLst>
              <a:gd name="adj" fmla="val 3077"/>
            </a:avLst>
          </a:prstGeom>
          <a:solidFill>
            <a:srgbClr val="F4F6FA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57016" y="1920240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NPV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557016" y="2212848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548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+13,050</a:t>
            </a:r>
            <a:endParaRPr lang="en-US" sz="2300" dirty="0"/>
          </a:p>
        </p:txBody>
      </p:sp>
      <p:sp>
        <p:nvSpPr>
          <p:cNvPr id="13" name="Text 11"/>
          <p:cNvSpPr/>
          <p:nvPr/>
        </p:nvSpPr>
        <p:spPr>
          <a:xfrm>
            <a:off x="3557016" y="2816352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3C455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MIRR 13.1% &gt; WACC 11.5%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3C455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PI 1.30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245352" y="1810512"/>
            <a:ext cx="2670048" cy="1783080"/>
          </a:xfrm>
          <a:prstGeom prst="roundRect">
            <a:avLst>
              <a:gd name="adj" fmla="val 3077"/>
            </a:avLst>
          </a:prstGeom>
          <a:solidFill>
            <a:srgbClr val="F4F6FA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28232" y="1920240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折現回收期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28232" y="2212848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BF8F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7.8 年</a:t>
            </a:r>
            <a:endParaRPr lang="en-US" sz="2300" dirty="0"/>
          </a:p>
        </p:txBody>
      </p:sp>
      <p:sp>
        <p:nvSpPr>
          <p:cNvPr id="17" name="Text 15"/>
          <p:cNvSpPr/>
          <p:nvPr/>
        </p:nvSpPr>
        <p:spPr>
          <a:xfrm>
            <a:off x="6428232" y="2816352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3C455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偏長，須確認合約年限涵蓋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9116568" y="1810512"/>
            <a:ext cx="2670048" cy="1783080"/>
          </a:xfrm>
          <a:prstGeom prst="roundRect">
            <a:avLst>
              <a:gd name="adj" fmla="val 3077"/>
            </a:avLst>
          </a:prstGeom>
          <a:solidFill>
            <a:srgbClr val="F4F6FA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299448" y="1920240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判讀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299448" y="2212848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BF8F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△ 可行但偏慢</a:t>
            </a:r>
            <a:endParaRPr lang="en-US" sz="2300" dirty="0"/>
          </a:p>
        </p:txBody>
      </p:sp>
      <p:sp>
        <p:nvSpPr>
          <p:cNvPr id="21" name="Text 19"/>
          <p:cNvSpPr/>
          <p:nvPr/>
        </p:nvSpPr>
        <p:spPr>
          <a:xfrm>
            <a:off x="9299448" y="2816352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3C455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下一步：取得三家原廠正式報價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02920" y="3794760"/>
            <a:ext cx="5486400" cy="2651760"/>
          </a:xfrm>
          <a:prstGeom prst="roundRect">
            <a:avLst>
              <a:gd name="adj" fmla="val 2069"/>
            </a:avLst>
          </a:prstGeom>
          <a:solidFill>
            <a:srgbClr val="FFF2CC"/>
          </a:solidFill>
          <a:ln w="12700">
            <a:solidFill>
              <a:srgbClr val="FFF2C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7240" y="390448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A68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兩個要盯住的剪刀差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77240" y="4315968"/>
            <a:ext cx="49377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6B4E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單價年漲 1.5%　vs　人力成本年漲 8%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6B4E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單價被壓抑不是保守估計，是有依據的：衛生部 Decision 313/QĐ-BYT 的 PACS 無片化給付價，平均比有片價低 5.9%、CT 32 排非顯影更低 8.7%。任何以「單價每年漲 3–5%」為前提的版本都應視為過度樂觀。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6B4E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十年下來，這個差距會吃掉相當大一塊利潤——這也是本模型不用「毛利率固定」簡化算法的原因。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172200" y="3794760"/>
            <a:ext cx="5486400" cy="2651760"/>
          </a:xfrm>
          <a:prstGeom prst="roundRect">
            <a:avLst>
              <a:gd name="adj" fmla="val 2069"/>
            </a:avLst>
          </a:prstGeom>
          <a:solidFill>
            <a:srgbClr val="DCEBD0"/>
          </a:solidFill>
          <a:ln w="12700">
            <a:solidFill>
              <a:srgbClr val="DCEBD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46520" y="390448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48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獲利的最大單一變數不是服務量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446520" y="4315968"/>
            <a:ext cx="49377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2E441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是自費比例。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2E441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基準假設自費 25%（單價約健保價的 1.55 倍）。若醫院客層無法支撐自費，把它調到 10% 重算，NPV 會明顯縮水。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2E441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談判時的意涵：不能只談量，要同時談客層。並在合約中納入保底檢查量（min-volume guarantee），把量的風險與醫院共同承擔——因為量價同時 −15% 就會轉負。</a:t>
            </a:r>
            <a:endParaRPr lang="en-US" sz="11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19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329184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2E74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CASE 2 · B 使能型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02920" y="603504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223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IDC 機房：用對尺之後，它是三案中回收最快的一個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02920" y="1207008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比較範圍刻意只含機房設施——院區網路、伺服器、資安設備自建外租都要買，算進來比較會失真。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1810512"/>
            <a:ext cx="2670048" cy="1737360"/>
          </a:xfrm>
          <a:prstGeom prst="roundRect">
            <a:avLst>
              <a:gd name="adj" fmla="val 3158"/>
            </a:avLst>
          </a:prstGeom>
          <a:solidFill>
            <a:srgbClr val="F4F6FA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920240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自建十年 TCO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85800" y="2212848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E74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104,212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685800" y="2798064"/>
            <a:ext cx="2331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3C455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建置 43,642 ＋ 十年營運現值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374136" y="1810512"/>
            <a:ext cx="2670048" cy="1737360"/>
          </a:xfrm>
          <a:prstGeom prst="roundRect">
            <a:avLst>
              <a:gd name="adj" fmla="val 3158"/>
            </a:avLst>
          </a:prstGeom>
          <a:solidFill>
            <a:srgbClr val="F4F6FA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57016" y="1920240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外租十年 TCO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557016" y="2212848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BF8F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118,600</a:t>
            </a:r>
            <a:endParaRPr lang="en-US" sz="2300" dirty="0"/>
          </a:p>
        </p:txBody>
      </p:sp>
      <p:sp>
        <p:nvSpPr>
          <p:cNvPr id="13" name="Text 11"/>
          <p:cNvSpPr/>
          <p:nvPr/>
        </p:nvSpPr>
        <p:spPr>
          <a:xfrm>
            <a:off x="3557016" y="2798064"/>
            <a:ext cx="2331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3C455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24 櫃 × US$1,600／月 ＋ 額外成本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245352" y="1810512"/>
            <a:ext cx="2670048" cy="1737360"/>
          </a:xfrm>
          <a:prstGeom prst="roundRect">
            <a:avLst>
              <a:gd name="adj" fmla="val 3158"/>
            </a:avLst>
          </a:prstGeom>
          <a:solidFill>
            <a:srgbClr val="DCEBD0"/>
          </a:solidFill>
          <a:ln w="12700">
            <a:solidFill>
              <a:srgbClr val="DCEBD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28232" y="1920240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ΔTCO 差額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28232" y="2212848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548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+14,388</a:t>
            </a:r>
            <a:endParaRPr lang="en-US" sz="2300" dirty="0"/>
          </a:p>
        </p:txBody>
      </p:sp>
      <p:sp>
        <p:nvSpPr>
          <p:cNvPr id="17" name="Text 15"/>
          <p:cNvSpPr/>
          <p:nvPr/>
        </p:nvSpPr>
        <p:spPr>
          <a:xfrm>
            <a:off x="6428232" y="2798064"/>
            <a:ext cx="2331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3C455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＝ 使能型投資的真實淨現值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9116568" y="1810512"/>
            <a:ext cx="2670048" cy="1737360"/>
          </a:xfrm>
          <a:prstGeom prst="roundRect">
            <a:avLst>
              <a:gd name="adj" fmla="val 3158"/>
            </a:avLst>
          </a:prstGeom>
          <a:solidFill>
            <a:srgbClr val="DCEBD0"/>
          </a:solidFill>
          <a:ln w="12700">
            <a:solidFill>
              <a:srgbClr val="DCEBD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299448" y="1920240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簡單回收期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299448" y="2212848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548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4.0 年</a:t>
            </a:r>
            <a:endParaRPr lang="en-US" sz="2300" dirty="0"/>
          </a:p>
        </p:txBody>
      </p:sp>
      <p:sp>
        <p:nvSpPr>
          <p:cNvPr id="21" name="Text 19"/>
          <p:cNvSpPr/>
          <p:nvPr/>
        </p:nvSpPr>
        <p:spPr>
          <a:xfrm>
            <a:off x="9299448" y="2798064"/>
            <a:ext cx="2331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3C455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建置費 4 年就把自己付掉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02920" y="3749040"/>
            <a:ext cx="5486400" cy="1572768"/>
          </a:xfrm>
          <a:prstGeom prst="roundRect">
            <a:avLst>
              <a:gd name="adj" fmla="val 3488"/>
            </a:avLst>
          </a:prstGeom>
          <a:solidFill>
            <a:srgbClr val="D9EDEF"/>
          </a:solidFill>
          <a:ln w="12700">
            <a:solidFill>
              <a:srgbClr val="D9EDE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7240" y="3840480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4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自建為什麼會比較便宜？三個結構性原因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77240" y="4206240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F4E5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代管商的報價含它自己的毛利與風險溢酬，自建等於把這塊留下來。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F4E5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人力可與院內既有 IT 共用值班（3 FTE 增額 vs 獨立編制 8–9 FTE）——這是最大的成本優勢。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F4E5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③ 越南代管市場 CAGR 28.7%、占用率已 &gt;90%，外租價格未來只會漲不會跌。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172200" y="3749040"/>
            <a:ext cx="5486400" cy="1572768"/>
          </a:xfrm>
          <a:prstGeom prst="roundRect">
            <a:avLst>
              <a:gd name="adj" fmla="val 3488"/>
            </a:avLst>
          </a:prstGeom>
          <a:solidFill>
            <a:srgbClr val="FBE6E2"/>
          </a:solidFill>
          <a:ln w="12700">
            <a:solidFill>
              <a:srgbClr val="FBE6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46520" y="3840480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三個會翻轉結論的變數，必須先確認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446520" y="4206240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A2A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電價歸類：Circular 60/2025 把商業資料中心改列 ≥22kV 商業電價，綜合電費升 45–55%。院內自用是否比照，須向 EVN 書面確認。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A2A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人力共用：若院方不同意，營運成本會增加約一倍。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A2A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③ 外租實際報價：本案用市場中段價估算，應以實際詢價取代。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02920" y="5394960"/>
            <a:ext cx="11155680" cy="1024128"/>
          </a:xfrm>
          <a:prstGeom prst="roundRect">
            <a:avLst>
              <a:gd name="adj" fmla="val 5357"/>
            </a:avLst>
          </a:prstGeom>
          <a:solidFill>
            <a:srgbClr val="DCE6F4"/>
          </a:solidFill>
          <a:ln w="12700">
            <a:solidFill>
              <a:srgbClr val="DCE6F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77240" y="546811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3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除了錢，還有三件在醫院場景權重很高、但難以完全量化的事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822960" y="579729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4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資料落地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22960" y="6053328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C455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PDPL 91/2025 下病歷與影像屬敏感個資，跨境傳輸須報公安部——放院內可省掉整套合規義務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480560" y="579729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4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臨床延遲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480560" y="6053328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C455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PACS 影像調閱與手術室即時系統對延遲敏感，院內承載有結構性優勢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8138160" y="579729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4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現場處置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8138160" y="6053328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C455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院內數分鐘到場 vs 依賴 remote hands 合約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329184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2E74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CASE 3 · F 策略布局型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02920" y="603504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223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HIS／EMR：數字不好看，但這是分類問題，不是案子問題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02920" y="1207008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單一家醫院的 HIS 合約，收入天花板被越南的付款結構鎖死。所以它該用階段關卡評估，不是 NPV。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1783080"/>
            <a:ext cx="5486400" cy="2286000"/>
          </a:xfrm>
          <a:prstGeom prst="roundRect">
            <a:avLst>
              <a:gd name="adj" fmla="val 2400"/>
            </a:avLst>
          </a:prstGeom>
          <a:solidFill>
            <a:srgbClr val="FBE6E2"/>
          </a:solidFill>
          <a:ln w="12700">
            <a:solidFill>
              <a:srgbClr val="FBE6E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883664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039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矛盾在哪裡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77240" y="2286000"/>
            <a:ext cx="4937760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5A2A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需求是被法規逼出來的：</a:t>
            </a:r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5A2A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衛生部要求醫院 2025 年 10 月前完成電子病歷。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5A2A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但付款來源還沒建立：</a:t>
            </a:r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5A2A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越南醫療服務價格至今只含人工與直接成本、未含 IT。更值得警惕的是——第一個把 IT 納入給付的案例（Decision 313/QĐ-BYT 白梅醫院 PACS 無片化），公告價反而比原本低 5.9%。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172200" y="1783080"/>
            <a:ext cx="5486400" cy="2286000"/>
          </a:xfrm>
          <a:prstGeom prst="roundRect">
            <a:avLst>
              <a:gd name="adj" fmla="val 2400"/>
            </a:avLst>
          </a:prstGeom>
          <a:solidFill>
            <a:srgbClr val="FFF2CC"/>
          </a:solidFill>
          <a:ln w="12700">
            <a:solidFill>
              <a:srgbClr val="FFF2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46520" y="1883664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A68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收入端已經頂到天花板，不是還沒努力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46520" y="2286000"/>
            <a:ext cx="4937760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6B4E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基準每床每月 1,680 元新台幣，500 床五年合約總額約 41bn VND——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6B4E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已落在越南一級醫院 IT 投資區間（10.5–40bn VND）的上緣。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6B4E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換句話說，把價格再往上調並不是可行解，那會直接談不成。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02920" y="4224528"/>
            <a:ext cx="11155680" cy="1280160"/>
          </a:xfrm>
          <a:prstGeom prst="roundRect">
            <a:avLst>
              <a:gd name="adj" fmla="val 4286"/>
            </a:avLst>
          </a:prstGeom>
          <a:solidFill>
            <a:srgbClr val="DCEBD0"/>
          </a:solidFill>
          <a:ln w="12700">
            <a:solidFill>
              <a:srgbClr val="DCEBD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4315968"/>
            <a:ext cx="10607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48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真正的解在「複製」，而且金額很具體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77240" y="4681728"/>
            <a:ext cx="10607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E441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成本明細中的在地化 371 萬、資料移轉 220 萬、導入服務 436 萬、教育訓練 136 萬——合計約 1,053 萬屬一次性投入，複製到第 2、第 3 家醫院時可攤薄六成以上。所以不要用一家醫院的合約去論證這門生意，要用「三年內拿下 3–5 家、共用同一平台」的路線去論證。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02920" y="5504688"/>
            <a:ext cx="11155680" cy="914400"/>
          </a:xfrm>
          <a:prstGeom prst="roundRect">
            <a:avLst>
              <a:gd name="adj" fmla="val 6000"/>
            </a:avLst>
          </a:prstGeom>
          <a:solidFill>
            <a:srgbClr val="DCE6F4"/>
          </a:solidFill>
          <a:ln w="12700">
            <a:solidFill>
              <a:srgbClr val="DCE6F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5577840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23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因為是策略布局型，決策方式也要跟著改：不要一次核定全額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822960" y="588873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B3FA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第一期 約30%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822960" y="612648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C455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門診上線＋院方書面驗收，且取得可對外引用的案例授權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480560" y="588873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B3FA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第二期 約40%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480560" y="612648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C455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住院與檢驗上線，且已有第 2 家醫院進入正式議約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138160" y="588873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B3FA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第三期 約30%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8138160" y="612648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C455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全院無紙化驗收，且第 2 家合約簽訂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21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329184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2E74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GOVERNANCE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02920" y="603504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223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怎麼確保數字不被美化？四道機制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02920" y="1207008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分類框架很好用，也很好濫用——把不划算的案子改標成「使能型」，數字就會變好看。所以要有防線。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1755648"/>
            <a:ext cx="5468112" cy="2084832"/>
          </a:xfrm>
          <a:prstGeom prst="roundRect">
            <a:avLst>
              <a:gd name="adj" fmla="val 2632"/>
            </a:avLst>
          </a:prstGeom>
          <a:solidFill>
            <a:srgbClr val="F4F6FA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0664" y="2011680"/>
            <a:ext cx="457200" cy="45720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8" name="Text 6"/>
          <p:cNvSpPr/>
          <p:nvPr/>
        </p:nvSpPr>
        <p:spPr>
          <a:xfrm>
            <a:off x="740664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44168" y="1975104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硬門檻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344168" y="2377440"/>
            <a:ext cx="4434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3C455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 使能型必須承載 ≥ 2 個專案，工具的結論公式會直接擋下：「⚠ 不應獨立立案（承載專案數不足 2）」，並建議把成本併入它服務的那個專案。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344168" y="3383280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039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▶ 機器擋，不靠人的自律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172200" y="1755648"/>
            <a:ext cx="5468112" cy="2084832"/>
          </a:xfrm>
          <a:prstGeom prst="roundRect">
            <a:avLst>
              <a:gd name="adj" fmla="val 2632"/>
            </a:avLst>
          </a:prstGeom>
          <a:solidFill>
            <a:srgbClr val="F4F6FA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09944" y="2011680"/>
            <a:ext cx="457200" cy="457200"/>
          </a:xfrm>
          <a:prstGeom prst="ellipse">
            <a:avLst/>
          </a:prstGeom>
          <a:solidFill>
            <a:srgbClr val="BF8F00"/>
          </a:solidFill>
          <a:ln/>
        </p:spPr>
      </p:sp>
      <p:sp>
        <p:nvSpPr>
          <p:cNvPr id="14" name="Text 12"/>
          <p:cNvSpPr/>
          <p:nvPr/>
        </p:nvSpPr>
        <p:spPr>
          <a:xfrm>
            <a:off x="6409944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013448" y="1975104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F8F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雙向比對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013448" y="2377440"/>
            <a:ext cx="4434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3C455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判斷精靈的推薦與設定頁的實際選擇會互相比對。若有人繞過精靈直接改類別，設定頁會跳出 ⚠ 不一致，並要求到假設來源分頁寫下理由。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013448" y="3383280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F8F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▶ 留痕，不上鎖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02920" y="3968496"/>
            <a:ext cx="5468112" cy="2084832"/>
          </a:xfrm>
          <a:prstGeom prst="roundRect">
            <a:avLst>
              <a:gd name="adj" fmla="val 2632"/>
            </a:avLst>
          </a:prstGeom>
          <a:solidFill>
            <a:srgbClr val="F4F6FA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40664" y="4224528"/>
            <a:ext cx="457200" cy="457200"/>
          </a:xfrm>
          <a:prstGeom prst="ellipse">
            <a:avLst/>
          </a:prstGeom>
          <a:solidFill>
            <a:srgbClr val="2E747A"/>
          </a:solidFill>
          <a:ln/>
        </p:spPr>
      </p:sp>
      <p:sp>
        <p:nvSpPr>
          <p:cNvPr id="20" name="Text 18"/>
          <p:cNvSpPr/>
          <p:nvPr/>
        </p:nvSpPr>
        <p:spPr>
          <a:xfrm>
            <a:off x="740664" y="42245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344168" y="4187952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74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假設登錄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344168" y="4590288"/>
            <a:ext cx="4434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3C455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每一筆金額與比率都要在假設來源分頁登錄出處、狀態（實績／報價／法規／推測）、日期與負責人。工具會統計「推測」的數量。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344168" y="5596128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E74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▶ 只要還有一筆是「推測」，就不能送投資決策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172200" y="3968496"/>
            <a:ext cx="5468112" cy="2084832"/>
          </a:xfrm>
          <a:prstGeom prst="roundRect">
            <a:avLst>
              <a:gd name="adj" fmla="val 2632"/>
            </a:avLst>
          </a:prstGeom>
          <a:solidFill>
            <a:srgbClr val="F4F6FA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09944" y="4224528"/>
            <a:ext cx="457200" cy="457200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26" name="Text 24"/>
          <p:cNvSpPr/>
          <p:nvPr/>
        </p:nvSpPr>
        <p:spPr>
          <a:xfrm>
            <a:off x="6409944" y="42245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013448" y="4187952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證據壓力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013448" y="4590288"/>
            <a:ext cx="4434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3C455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主工具中，凡商業判斷為「立即推進 Go」但證據成熟度仍是「推測」的項目，整列自動轉紅底。目前 22 個 Go 全部是紅的——這是刻意的。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013448" y="5596128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386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▶ 紅色不是錯誤，是待辦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502920" y="6089904"/>
            <a:ext cx="11155680" cy="365760"/>
          </a:xfrm>
          <a:prstGeom prst="roundRect">
            <a:avLst>
              <a:gd name="adj" fmla="val 15000"/>
            </a:avLst>
          </a:prstGeom>
          <a:solidFill>
            <a:srgbClr val="FFF2CC"/>
          </a:solidFill>
          <a:ln w="12700">
            <a:solidFill>
              <a:srgbClr val="FFF2C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77240" y="6089904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4E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這四道防線防得住「不小心分錯」與「悄悄改掉」，防不住「刻意串通造假」——後者是治理與稽核的責任，不是試算表的責任。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329184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2E74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INTELLECTUAL HONESTY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02920" y="603504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223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哪些有出處，哪些是我們的設計判斷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02920" y="1207008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這一頁請務必看——對外引用時，右邊那一欄不能當成有出處的東西。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1783080"/>
            <a:ext cx="5486400" cy="4114800"/>
          </a:xfrm>
          <a:prstGeom prst="roundRect">
            <a:avLst>
              <a:gd name="adj" fmla="val 1333"/>
            </a:avLst>
          </a:prstGeom>
          <a:solidFill>
            <a:srgbClr val="DCEBD0"/>
          </a:solidFill>
          <a:ln w="12700">
            <a:solidFill>
              <a:srgbClr val="DCEBD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883664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48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✔　有明確出處，可對外引用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237744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48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✔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43000" y="2377440"/>
            <a:ext cx="4663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E441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Weill &amp; Aral 的四分類與 46%／55%／37% 等數據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22960" y="2862072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48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✔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43000" y="2862072"/>
            <a:ext cx="4663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E441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CFA 對強制型、汰換型專案的評估原則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22960" y="3346704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48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✔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143000" y="3346704"/>
            <a:ext cx="4663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E441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Gartner TCO 差異法與 TBM Council 分攤方法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822960" y="3831336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48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✔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43000" y="3831336"/>
            <a:ext cx="4663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E441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CAPM、Hamada 公式、FCFF、MIRR、終值三法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822960" y="4315968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48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✔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143000" y="4315968"/>
            <a:ext cx="4663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E441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Damodaran 2026 的越南 CRP 3.90%、ERP 4.23%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822960" y="480060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48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✔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43000" y="4800600"/>
            <a:ext cx="4663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E441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越南全部法規的條號與生效日期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822960" y="5285232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48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✔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143000" y="5285232"/>
            <a:ext cx="4663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E441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Uptime Tier、NFPA、IEC 80001 等工程標準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172200" y="1783080"/>
            <a:ext cx="5486400" cy="4114800"/>
          </a:xfrm>
          <a:prstGeom prst="roundRect">
            <a:avLst>
              <a:gd name="adj" fmla="val 1333"/>
            </a:avLst>
          </a:prstGeom>
          <a:solidFill>
            <a:srgbClr val="FFF2CC"/>
          </a:solidFill>
          <a:ln w="12700">
            <a:solidFill>
              <a:srgbClr val="FFF2C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46520" y="1883664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A68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△　我們的設計判斷，是待確認的假設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492240" y="237744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68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△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812280" y="2377440"/>
            <a:ext cx="4663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4E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六類別的「組合方式」——骨架有據，拼法是設計，沒有一篇文獻長這樣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492240" y="2944368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68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△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812280" y="2944368"/>
            <a:ext cx="4663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4E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判斷精靈的四題順序，是走查路徑不是公認決策樹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6492240" y="3511296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68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△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812280" y="3511296"/>
            <a:ext cx="4663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4E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各種門檻值：回收期 7 年、承載專案數 ≥2、稅費佔比 4%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6492240" y="4078224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68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△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812280" y="4078224"/>
            <a:ext cx="4663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4E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主工具攻擊優先分的權重 0.45／0.35／0.2 與評分定錨規則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6492240" y="4645152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68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△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812280" y="4645152"/>
            <a:ext cx="4663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4E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三個模擬案的所有金額（規劃用示意值，不是報價）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6492240" y="521208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68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△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812280" y="5212080"/>
            <a:ext cx="4663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4E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Damodaran 的 Beta 為美國樣本，新興市場版未能取得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502920" y="5971032"/>
            <a:ext cx="11155680" cy="457200"/>
          </a:xfrm>
          <a:prstGeom prst="roundRect">
            <a:avLst>
              <a:gd name="adj" fmla="val 12000"/>
            </a:avLst>
          </a:prstGeom>
          <a:solidFill>
            <a:srgbClr val="DCE6F4"/>
          </a:solidFill>
          <a:ln w="12700">
            <a:solidFill>
              <a:srgbClr val="DCE6F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77240" y="5989320"/>
            <a:ext cx="10607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1223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一句話：</a:t>
            </a:r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財務方法與投資分類這兩層站得住，可以拿去跟投資方談；門檻值與權重那一層是待各位確認的假設，不要當定論。它們全部放在工具的黃色可編輯格，就是為了讓各位能推翻。</a:t>
            </a:r>
            <a:endParaRPr lang="en-US" sz="11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329184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2E74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BEFORE THE BOARD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02920" y="603504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223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送交投資決策前的十項檢查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02920" y="1207008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工具的決策摘要頁最下方就印著這十項。全部打勾之前，任何一案都不該進董事會。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1783080"/>
            <a:ext cx="5468112" cy="768096"/>
          </a:xfrm>
          <a:prstGeom prst="roundRect">
            <a:avLst>
              <a:gd name="adj" fmla="val 7143"/>
            </a:avLst>
          </a:prstGeom>
          <a:solidFill>
            <a:srgbClr val="F4F6FA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04088" y="1993392"/>
            <a:ext cx="347472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9050">
            <a:solidFill>
              <a:srgbClr val="BF8F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04088" y="19933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F8F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161288" y="1819656"/>
            <a:ext cx="46634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3C455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每一筆資本支出都已用廠商正式報價或工程估算取代示意值，並登錄來源與日期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172200" y="1783080"/>
            <a:ext cx="5468112" cy="768096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373368" y="1993392"/>
            <a:ext cx="347472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9050">
            <a:solidFill>
              <a:srgbClr val="BF8F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73368" y="19933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F8F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830568" y="1819656"/>
            <a:ext cx="46634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3C455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關稅與進項 VAT 已確認：醫材 HS 9022 適用 MFN 0%（須附有效 C/O）；醫療服務免 VAT ⇒ 進項不可扣抵、必須資本化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02920" y="2651760"/>
            <a:ext cx="5468112" cy="768096"/>
          </a:xfrm>
          <a:prstGeom prst="roundRect">
            <a:avLst>
              <a:gd name="adj" fmla="val 7143"/>
            </a:avLst>
          </a:prstGeom>
          <a:solidFill>
            <a:srgbClr val="F4F6FA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04088" y="2862072"/>
            <a:ext cx="347472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9050">
            <a:solidFill>
              <a:srgbClr val="BF8F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04088" y="28620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F8F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161288" y="2688336"/>
            <a:ext cx="46634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3C455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稅務優惠資格已由越南在地稅務顧問書面確認（社會化醫療 10%、免稅期起算年、虧損扣抵 5 年）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172200" y="2651760"/>
            <a:ext cx="5468112" cy="768096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373368" y="2862072"/>
            <a:ext cx="347472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9050">
            <a:solidFill>
              <a:srgbClr val="BF8F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73368" y="28620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F8F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830568" y="2688336"/>
            <a:ext cx="46634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3C455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折現率已與投資方書面談定——同一份模型用不同折現率會得到相反的結論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02920" y="3520440"/>
            <a:ext cx="5468112" cy="768096"/>
          </a:xfrm>
          <a:prstGeom prst="roundRect">
            <a:avLst>
              <a:gd name="adj" fmla="val 7143"/>
            </a:avLst>
          </a:prstGeom>
          <a:solidFill>
            <a:srgbClr val="F4F6FA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04088" y="3730752"/>
            <a:ext cx="347472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9050">
            <a:solidFill>
              <a:srgbClr val="BF8F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04088" y="37307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F8F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161288" y="3557016"/>
            <a:ext cx="46634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3C455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越南醫材／軟體註冊路徑與時程已由法規顧問確認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172200" y="3520440"/>
            <a:ext cx="5468112" cy="768096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373368" y="3730752"/>
            <a:ext cx="347472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9050">
            <a:solidFill>
              <a:srgbClr val="BF8F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73368" y="37307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F8F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830568" y="3557016"/>
            <a:ext cx="46634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3C455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營運成本已含在地人力、維保合約、耗材與電力，且薪資年成長率不為 0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02920" y="4389120"/>
            <a:ext cx="5468112" cy="768096"/>
          </a:xfrm>
          <a:prstGeom prst="roundRect">
            <a:avLst>
              <a:gd name="adj" fmla="val 7143"/>
            </a:avLst>
          </a:prstGeom>
          <a:solidFill>
            <a:srgbClr val="F4F6FA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04088" y="4599432"/>
            <a:ext cx="347472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9050">
            <a:solidFill>
              <a:srgbClr val="BF8F0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04088" y="45994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F8F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161288" y="4425696"/>
            <a:ext cx="46634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3C455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收入單價已核對越南健保公告費率與自費市場行情（注意無片化給付價反而較低）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172200" y="4389120"/>
            <a:ext cx="5468112" cy="768096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373368" y="4599432"/>
            <a:ext cx="347472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9050">
            <a:solidFill>
              <a:srgbClr val="BF8F0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373368" y="45994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F8F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830568" y="4425696"/>
            <a:ext cx="46634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3C455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健保應收天數已依實際結算經驗設定，並在保守情境測試過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502920" y="5257800"/>
            <a:ext cx="5468112" cy="768096"/>
          </a:xfrm>
          <a:prstGeom prst="roundRect">
            <a:avLst>
              <a:gd name="adj" fmla="val 7143"/>
            </a:avLst>
          </a:prstGeom>
          <a:solidFill>
            <a:srgbClr val="F4F6FA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04088" y="5468112"/>
            <a:ext cx="347472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9050">
            <a:solidFill>
              <a:srgbClr val="BF8F0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04088" y="54681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F8F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9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1161288" y="5294376"/>
            <a:ext cx="46634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3C455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龍捲風圖排序第一的變數，已有對應的合約條款或查證計畫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6172200" y="5257800"/>
            <a:ext cx="5468112" cy="768096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373368" y="5468112"/>
            <a:ext cx="347472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9050">
            <a:solidFill>
              <a:srgbClr val="BF8F0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73368" y="54681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F8F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6830568" y="5294376"/>
            <a:ext cx="46634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3C455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獨立驗證單位已複核本模型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502920" y="6089904"/>
            <a:ext cx="11155680" cy="347472"/>
          </a:xfrm>
          <a:prstGeom prst="roundRect">
            <a:avLst>
              <a:gd name="adj" fmla="val 15789"/>
            </a:avLst>
          </a:prstGeom>
          <a:solidFill>
            <a:srgbClr val="FBE6E2"/>
          </a:solidFill>
          <a:ln w="12700">
            <a:solidFill>
              <a:srgbClr val="FBE6E2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77240" y="6089904"/>
            <a:ext cx="10607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目前三個模擬案的狀態：全部十項皆未完成——它們是示範模型，不是可送審的投資案。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24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329184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2E74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WHAT WE NEED FROM YOU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02920" y="603504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223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四種角色，各自需要做的一件事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02920" y="1207008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工具已經備好清單，但有些事只有各位能決定。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1755648"/>
            <a:ext cx="11155680" cy="1005840"/>
          </a:xfrm>
          <a:prstGeom prst="roundRect">
            <a:avLst>
              <a:gd name="adj" fmla="val 5455"/>
            </a:avLst>
          </a:prstGeom>
          <a:solidFill>
            <a:srgbClr val="FFF2CC"/>
          </a:solidFill>
          <a:ln w="12700">
            <a:solidFill>
              <a:srgbClr val="FFF2C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2002536"/>
            <a:ext cx="1371600" cy="512064"/>
          </a:xfrm>
          <a:prstGeom prst="roundRect">
            <a:avLst>
              <a:gd name="adj" fmla="val 16071"/>
            </a:avLst>
          </a:prstGeom>
          <a:solidFill>
            <a:srgbClr val="BF8F00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002536"/>
            <a:ext cx="1371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業主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2331720" y="187452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223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確認 IDC 機房的三個關鍵變數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080760" y="1856232"/>
            <a:ext cx="53949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3C455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向 EVN 確認院內自用機房的電價歸類、與院方談定 IT 人力共用值班、取得 FPT／Viettel 的實際代管報價。這三項會直接決定 ΔTCO 的大小。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2852928"/>
            <a:ext cx="11155680" cy="1005840"/>
          </a:xfrm>
          <a:prstGeom prst="roundRect">
            <a:avLst>
              <a:gd name="adj" fmla="val 5455"/>
            </a:avLst>
          </a:prstGeom>
          <a:solidFill>
            <a:srgbClr val="DCEBD0"/>
          </a:solidFill>
          <a:ln w="12700">
            <a:solidFill>
              <a:srgbClr val="DCEBD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31520" y="3099816"/>
            <a:ext cx="1371600" cy="512064"/>
          </a:xfrm>
          <a:prstGeom prst="roundRect">
            <a:avLst>
              <a:gd name="adj" fmla="val 16071"/>
            </a:avLst>
          </a:prstGeom>
          <a:solidFill>
            <a:srgbClr val="548235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3099816"/>
            <a:ext cx="1371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投資方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331720" y="297180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223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談定折現率的口徑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080760" y="2953512"/>
            <a:ext cx="53949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3C455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07 分頁已用 CAPM 推好（含越南國家風險溢酬 3.90%），但必須書面確認。同時請確認 MIRR 的再投資率假設是否符合貴方的資金報酬水準。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2920" y="3950208"/>
            <a:ext cx="11155680" cy="1005840"/>
          </a:xfrm>
          <a:prstGeom prst="roundRect">
            <a:avLst>
              <a:gd name="adj" fmla="val 5455"/>
            </a:avLst>
          </a:prstGeom>
          <a:solidFill>
            <a:srgbClr val="DCE6F4"/>
          </a:solidFill>
          <a:ln w="12700">
            <a:solidFill>
              <a:srgbClr val="DCE6F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31520" y="4197096"/>
            <a:ext cx="1371600" cy="512064"/>
          </a:xfrm>
          <a:prstGeom prst="roundRect">
            <a:avLst>
              <a:gd name="adj" fmla="val 16071"/>
            </a:avLst>
          </a:prstGeom>
          <a:solidFill>
            <a:srgbClr val="1F3864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4197096"/>
            <a:ext cx="1371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董事會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2331720" y="406908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223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核定投資分類的治理規則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080760" y="4050792"/>
            <a:ext cx="53949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3C455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確認六類別框架可作為聯盟的投資決策依據，並核定「B 使能型須承載 ≥2 個專案」等門檻值。另請指定獨立驗證單位。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02920" y="5047488"/>
            <a:ext cx="11155680" cy="1005840"/>
          </a:xfrm>
          <a:prstGeom prst="roundRect">
            <a:avLst>
              <a:gd name="adj" fmla="val 5455"/>
            </a:avLst>
          </a:prstGeom>
          <a:solidFill>
            <a:srgbClr val="D9EDEF"/>
          </a:solidFill>
          <a:ln w="12700">
            <a:solidFill>
              <a:srgbClr val="D9EDE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31520" y="5294376"/>
            <a:ext cx="1371600" cy="512064"/>
          </a:xfrm>
          <a:prstGeom prst="roundRect">
            <a:avLst>
              <a:gd name="adj" fmla="val 16071"/>
            </a:avLst>
          </a:prstGeom>
          <a:solidFill>
            <a:srgbClr val="2E747A"/>
          </a:solidFill>
          <a:ln/>
        </p:spPr>
      </p:sp>
      <p:sp>
        <p:nvSpPr>
          <p:cNvPr id="23" name="Text 21"/>
          <p:cNvSpPr/>
          <p:nvPr/>
        </p:nvSpPr>
        <p:spPr>
          <a:xfrm>
            <a:off x="731520" y="5294376"/>
            <a:ext cx="1371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顧問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2331720" y="516636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223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把示意值換成報價，並清空「推測」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080760" y="5148072"/>
            <a:ext cx="53949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3C455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取得三家原廠報價、完成越南稅務優惠的資格確認、逐筆更新假設來源分頁，直到「推測」的統計數字歸零。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02920" y="6126480"/>
            <a:ext cx="11155680" cy="347472"/>
          </a:xfrm>
          <a:prstGeom prst="roundRect">
            <a:avLst>
              <a:gd name="adj" fmla="val 15789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77240" y="6126480"/>
            <a:ext cx="10607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223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這四件事完成後，三個模擬案就能重跑一次，屆時的數字才是可以拿來做投資決策的數字。</a:t>
            </a:r>
            <a:endParaRPr lang="en-US" sz="11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25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329184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2E74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REFERENCES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02920" y="603504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223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出處清單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02920" y="1207008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以下每一條都可在網路上查證原文。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1773936"/>
            <a:ext cx="11155680" cy="1005840"/>
          </a:xfrm>
          <a:prstGeom prst="roundRect">
            <a:avLst>
              <a:gd name="adj" fmla="val 5455"/>
            </a:avLst>
          </a:prstGeom>
          <a:solidFill>
            <a:srgbClr val="F4F6FA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3232" y="1828800"/>
            <a:ext cx="19202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86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投資治理與分類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2743200" y="1847088"/>
            <a:ext cx="873252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3C455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sloanreview.mit.edu — Generating Premium Returns on Your IT Investments｜cisr.mit.edu — Digital Requires More Infrastructure｜analystnotes.com — CFA 資本預算專案分類｜gartner.com — Run, Grow and Transform；TCO Framework｜tbmcouncil.org — Allocation Methods｜anderson.ucla.edu — IT Investments as Real Options｜people.bu.edu — Amram &amp; Kulatilaka, Real Options View of Infrastructure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02920" y="2871216"/>
            <a:ext cx="1115568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" y="2926080"/>
            <a:ext cx="19202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4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財務方法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2743200" y="2944368"/>
            <a:ext cx="873252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3C455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pages.stern.nyu.edu — Damodaran, Country Risk Premiums／Betas by Sector (2026-01)｜aswathdamodaran.blogspot.com — Currency Choices in Valuation｜corporatefinanceinstitute.com — FCFF vs FCFE；MIRR Guide｜wallstreetprep.com — Terminal Value｜edbodmer.com — Tornado Diagrams｜financialmodelling.forvismazars.com — DSCR／LLCR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02920" y="3968496"/>
            <a:ext cx="11155680" cy="1005840"/>
          </a:xfrm>
          <a:prstGeom prst="roundRect">
            <a:avLst>
              <a:gd name="adj" fmla="val 5455"/>
            </a:avLst>
          </a:prstGeom>
          <a:solidFill>
            <a:srgbClr val="F4F6FA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3232" y="4023360"/>
            <a:ext cx="19202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F8F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越南法規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2743200" y="4041648"/>
            <a:ext cx="873252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3C455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pwc.com — Viet Nam Pocket Tax Book｜taxsummaries.pwc.com — Vietnam Corporate Tax｜thuvienphapluat.vn — Law 48/2024/QH15 on VAT｜accaglobal.com — Circular 45/2013/TT-BTC 折舊年限｜vietnam-briefing.com — Tax Incentives；Profit Repatriation｜arcusenergyasia.com — 越南電價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02920" y="5065776"/>
            <a:ext cx="1115568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3232" y="5120640"/>
            <a:ext cx="19202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039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產業與工程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2743200" y="5138928"/>
            <a:ext cx="873252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3C455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encoradvisors.com — Data Center Colocation Pricing 2026｜cushmanwakefield.com — Vietnam Data Centre Costs｜irecruit.co — Data Center Staffing Ratios｜blockimaging.com／amberusa.com／prizmedimaging.com — CT 設備與球管行情｜leadglasspro.com — 鉛屏蔽｜meddeviceguide.com — 越南醫材註冊｜journal.uptimeinstitute.com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02920" y="6108192"/>
            <a:ext cx="11155680" cy="347472"/>
          </a:xfrm>
          <a:prstGeom prst="roundRect">
            <a:avLst>
              <a:gd name="adj" fmla="val 15789"/>
            </a:avLst>
          </a:prstGeom>
          <a:solidFill>
            <a:srgbClr val="FFF2CC"/>
          </a:solidFill>
          <a:ln w="12700">
            <a:solidFill>
              <a:srgbClr val="FFF2C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" y="6108192"/>
            <a:ext cx="10607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4E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查證原則：凡查無公開資料者，工具一律在假設來源分頁標明「查無公開報價」並附替代推估基準，不編造精確數字。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2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CA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22960" y="14630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400" kern="0" dirty="0">
                <a:solidFill>
                  <a:srgbClr val="7A8CA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一句話總結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822960" y="201168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我們不是在說服各位這些案子好，</a:t>
            </a:r>
            <a:endParaRPr lang="en-US" sz="3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是在說明我們用什麼方法判斷好壞。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822960" y="3794760"/>
            <a:ext cx="3291840" cy="1371600"/>
          </a:xfrm>
          <a:prstGeom prst="roundRect">
            <a:avLst>
              <a:gd name="adj" fmla="val 5333"/>
            </a:avLst>
          </a:prstGeom>
          <a:solidFill>
            <a:srgbClr val="1B3357"/>
          </a:solidFill>
          <a:ln w="12700">
            <a:solidFill>
              <a:srgbClr val="2E476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1560" y="3950208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2C1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方法有據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051560" y="4370832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7D5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投資分類與財務算法都可回溯到公開的學術與業界標準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89120" y="3794760"/>
            <a:ext cx="3291840" cy="1371600"/>
          </a:xfrm>
          <a:prstGeom prst="roundRect">
            <a:avLst>
              <a:gd name="adj" fmla="val 5333"/>
            </a:avLst>
          </a:prstGeom>
          <a:solidFill>
            <a:srgbClr val="1B3357"/>
          </a:solidFill>
          <a:ln w="12700">
            <a:solidFill>
              <a:srgbClr val="2E476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17720" y="3950208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2C1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假設透明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617720" y="4370832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7D5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哪些是查證過的、哪些是我們的判斷，逐項標示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7955280" y="3794760"/>
            <a:ext cx="3291840" cy="1371600"/>
          </a:xfrm>
          <a:prstGeom prst="roundRect">
            <a:avLst>
              <a:gd name="adj" fmla="val 5333"/>
            </a:avLst>
          </a:prstGeom>
          <a:solidFill>
            <a:srgbClr val="1B3357"/>
          </a:solidFill>
          <a:ln w="12700">
            <a:solidFill>
              <a:srgbClr val="2E476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183880" y="3950208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2C1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隨時可推翻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8183880" y="4370832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7D5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所有門檻值與權重都在可編輯格，改了全檔即時重算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822960" y="548640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i="1" dirty="0">
                <a:solidFill>
                  <a:srgbClr val="7E93B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立場：由越南主導，結合越南在地醫療與產業夥伴，導入台灣的醫院營運與系統整合經驗以及國際成熟技術，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i="1" dirty="0">
                <a:solidFill>
                  <a:srgbClr val="7E93B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建立一座可由越南長期營運、維護並向外複製的現代化示範醫院。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2026-08-16T02:13:48Z</dcterms:created>
  <dcterms:modified xsi:type="dcterms:W3CDTF">2026-08-16T02:13:48Z</dcterms:modified>
</cp:coreProperties>
</file>